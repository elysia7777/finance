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sldIdLst>
    <p:sldId id="259" r:id="rId3"/>
    <p:sldId id="276" r:id="rId4"/>
    <p:sldId id="286" r:id="rId5"/>
    <p:sldId id="261" r:id="rId6"/>
    <p:sldId id="287" r:id="rId7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>
      <p:cViewPr varScale="1">
        <p:scale>
          <a:sx n="57" d="100"/>
          <a:sy n="57" d="100"/>
        </p:scale>
        <p:origin x="38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44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-415225" y="-637708"/>
            <a:ext cx="12607225" cy="7495708"/>
            <a:chOff x="-415225" y="-637708"/>
            <a:chExt cx="12607225" cy="7495708"/>
          </a:xfrm>
        </p:grpSpPr>
        <p:grpSp>
          <p:nvGrpSpPr>
            <p:cNvPr id="23" name="Group 22"/>
            <p:cNvGrpSpPr/>
            <p:nvPr/>
          </p:nvGrpSpPr>
          <p:grpSpPr>
            <a:xfrm>
              <a:off x="-415225" y="-637708"/>
              <a:ext cx="7874000" cy="7495708"/>
              <a:chOff x="-415225" y="-637708"/>
              <a:chExt cx="7874000" cy="7495708"/>
            </a:xfrm>
          </p:grpSpPr>
          <p:sp>
            <p:nvSpPr>
              <p:cNvPr id="19" name="Freeform: Shape 18"/>
              <p:cNvSpPr/>
              <p:nvPr/>
            </p:nvSpPr>
            <p:spPr>
              <a:xfrm>
                <a:off x="3590225" y="3765756"/>
                <a:ext cx="3868550" cy="3092244"/>
              </a:xfrm>
              <a:custGeom>
                <a:avLst/>
                <a:gdLst>
                  <a:gd name="connsiteX0" fmla="*/ 1934275 w 3868550"/>
                  <a:gd name="connsiteY0" fmla="*/ 0 h 3092244"/>
                  <a:gd name="connsiteX1" fmla="*/ 3868550 w 3868550"/>
                  <a:gd name="connsiteY1" fmla="*/ 1934275 h 3092244"/>
                  <a:gd name="connsiteX2" fmla="*/ 3538206 w 3868550"/>
                  <a:gd name="connsiteY2" fmla="*/ 3015747 h 3092244"/>
                  <a:gd name="connsiteX3" fmla="*/ 3481003 w 3868550"/>
                  <a:gd name="connsiteY3" fmla="*/ 3092244 h 3092244"/>
                  <a:gd name="connsiteX4" fmla="*/ 387548 w 3868550"/>
                  <a:gd name="connsiteY4" fmla="*/ 3092244 h 3092244"/>
                  <a:gd name="connsiteX5" fmla="*/ 330344 w 3868550"/>
                  <a:gd name="connsiteY5" fmla="*/ 3015747 h 3092244"/>
                  <a:gd name="connsiteX6" fmla="*/ 0 w 3868550"/>
                  <a:gd name="connsiteY6" fmla="*/ 1934275 h 3092244"/>
                  <a:gd name="connsiteX7" fmla="*/ 1934275 w 3868550"/>
                  <a:gd name="connsiteY7" fmla="*/ 0 h 309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68550" h="3092244">
                    <a:moveTo>
                      <a:pt x="1934275" y="0"/>
                    </a:moveTo>
                    <a:cubicBezTo>
                      <a:pt x="3002546" y="0"/>
                      <a:pt x="3868550" y="866004"/>
                      <a:pt x="3868550" y="1934275"/>
                    </a:cubicBezTo>
                    <a:cubicBezTo>
                      <a:pt x="3868550" y="2334877"/>
                      <a:pt x="3746768" y="2707035"/>
                      <a:pt x="3538206" y="3015747"/>
                    </a:cubicBezTo>
                    <a:lnTo>
                      <a:pt x="3481003" y="3092244"/>
                    </a:lnTo>
                    <a:lnTo>
                      <a:pt x="387548" y="3092244"/>
                    </a:lnTo>
                    <a:lnTo>
                      <a:pt x="330344" y="3015747"/>
                    </a:lnTo>
                    <a:cubicBezTo>
                      <a:pt x="121782" y="2707035"/>
                      <a:pt x="0" y="2334877"/>
                      <a:pt x="0" y="1934275"/>
                    </a:cubicBezTo>
                    <a:cubicBezTo>
                      <a:pt x="0" y="866004"/>
                      <a:pt x="866005" y="0"/>
                      <a:pt x="1934275" y="0"/>
                    </a:cubicBez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Freeform: Shape 20"/>
              <p:cNvSpPr/>
              <p:nvPr/>
            </p:nvSpPr>
            <p:spPr>
              <a:xfrm>
                <a:off x="-415225" y="-637708"/>
                <a:ext cx="5203011" cy="5965958"/>
              </a:xfrm>
              <a:custGeom>
                <a:avLst/>
                <a:gdLst>
                  <a:gd name="connsiteX0" fmla="*/ 0 w 4476750"/>
                  <a:gd name="connsiteY0" fmla="*/ 0 h 5133201"/>
                  <a:gd name="connsiteX1" fmla="*/ 4130562 w 4476750"/>
                  <a:gd name="connsiteY1" fmla="*/ 0 h 5133201"/>
                  <a:gd name="connsiteX2" fmla="*/ 4193809 w 4476750"/>
                  <a:gd name="connsiteY2" fmla="*/ 131293 h 5133201"/>
                  <a:gd name="connsiteX3" fmla="*/ 4476750 w 4476750"/>
                  <a:gd name="connsiteY3" fmla="*/ 1532751 h 5133201"/>
                  <a:gd name="connsiteX4" fmla="*/ 876300 w 4476750"/>
                  <a:gd name="connsiteY4" fmla="*/ 5133201 h 5133201"/>
                  <a:gd name="connsiteX5" fmla="*/ 150684 w 4476750"/>
                  <a:gd name="connsiteY5" fmla="*/ 5060053 h 5133201"/>
                  <a:gd name="connsiteX6" fmla="*/ 0 w 4476750"/>
                  <a:gd name="connsiteY6" fmla="*/ 5025275 h 5133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76750" h="5133201">
                    <a:moveTo>
                      <a:pt x="0" y="0"/>
                    </a:moveTo>
                    <a:lnTo>
                      <a:pt x="4130562" y="0"/>
                    </a:lnTo>
                    <a:lnTo>
                      <a:pt x="4193809" y="131293"/>
                    </a:lnTo>
                    <a:cubicBezTo>
                      <a:pt x="4376002" y="562045"/>
                      <a:pt x="4476750" y="1035633"/>
                      <a:pt x="4476750" y="1532751"/>
                    </a:cubicBezTo>
                    <a:cubicBezTo>
                      <a:pt x="4476750" y="3521225"/>
                      <a:pt x="2864774" y="5133201"/>
                      <a:pt x="876300" y="5133201"/>
                    </a:cubicBezTo>
                    <a:cubicBezTo>
                      <a:pt x="627741" y="5133201"/>
                      <a:pt x="385065" y="5108014"/>
                      <a:pt x="150684" y="5060053"/>
                    </a:cubicBezTo>
                    <a:lnTo>
                      <a:pt x="0" y="5025275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Freeform: Shape 14"/>
            <p:cNvSpPr/>
            <p:nvPr/>
          </p:nvSpPr>
          <p:spPr>
            <a:xfrm>
              <a:off x="4270739" y="0"/>
              <a:ext cx="1321138" cy="660569"/>
            </a:xfrm>
            <a:custGeom>
              <a:avLst/>
              <a:gdLst>
                <a:gd name="connsiteX0" fmla="*/ 0 w 1321138"/>
                <a:gd name="connsiteY0" fmla="*/ 0 h 660569"/>
                <a:gd name="connsiteX1" fmla="*/ 330284 w 1321138"/>
                <a:gd name="connsiteY1" fmla="*/ 0 h 660569"/>
                <a:gd name="connsiteX2" fmla="*/ 660568 w 1321138"/>
                <a:gd name="connsiteY2" fmla="*/ 330284 h 660569"/>
                <a:gd name="connsiteX3" fmla="*/ 990852 w 1321138"/>
                <a:gd name="connsiteY3" fmla="*/ 0 h 660569"/>
                <a:gd name="connsiteX4" fmla="*/ 1321138 w 1321138"/>
                <a:gd name="connsiteY4" fmla="*/ 0 h 660569"/>
                <a:gd name="connsiteX5" fmla="*/ 660569 w 1321138"/>
                <a:gd name="connsiteY5" fmla="*/ 660569 h 660569"/>
                <a:gd name="connsiteX6" fmla="*/ 0 w 1321138"/>
                <a:gd name="connsiteY6" fmla="*/ 0 h 66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1138" h="660569">
                  <a:moveTo>
                    <a:pt x="0" y="0"/>
                  </a:moveTo>
                  <a:lnTo>
                    <a:pt x="330284" y="0"/>
                  </a:lnTo>
                  <a:cubicBezTo>
                    <a:pt x="330284" y="182411"/>
                    <a:pt x="478158" y="330284"/>
                    <a:pt x="660568" y="330284"/>
                  </a:cubicBezTo>
                  <a:cubicBezTo>
                    <a:pt x="842979" y="330284"/>
                    <a:pt x="990852" y="182411"/>
                    <a:pt x="990852" y="0"/>
                  </a:cubicBezTo>
                  <a:lnTo>
                    <a:pt x="1321138" y="0"/>
                  </a:lnTo>
                  <a:cubicBezTo>
                    <a:pt x="1321138" y="364822"/>
                    <a:pt x="1025391" y="660569"/>
                    <a:pt x="660569" y="660569"/>
                  </a:cubicBezTo>
                  <a:cubicBezTo>
                    <a:pt x="295748" y="660569"/>
                    <a:pt x="0" y="364822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-1" y="5430033"/>
              <a:ext cx="1427967" cy="1427967"/>
            </a:xfrm>
            <a:custGeom>
              <a:avLst/>
              <a:gdLst>
                <a:gd name="connsiteX0" fmla="*/ 0 w 1245764"/>
                <a:gd name="connsiteY0" fmla="*/ 0 h 1245764"/>
                <a:gd name="connsiteX1" fmla="*/ 1245764 w 1245764"/>
                <a:gd name="connsiteY1" fmla="*/ 1245764 h 1245764"/>
                <a:gd name="connsiteX2" fmla="*/ 622882 w 1245764"/>
                <a:gd name="connsiteY2" fmla="*/ 1245764 h 1245764"/>
                <a:gd name="connsiteX3" fmla="*/ 0 w 1245764"/>
                <a:gd name="connsiteY3" fmla="*/ 622882 h 124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5764" h="1245764">
                  <a:moveTo>
                    <a:pt x="0" y="0"/>
                  </a:moveTo>
                  <a:cubicBezTo>
                    <a:pt x="688016" y="0"/>
                    <a:pt x="1245764" y="557748"/>
                    <a:pt x="1245764" y="1245764"/>
                  </a:cubicBezTo>
                  <a:lnTo>
                    <a:pt x="622882" y="1245764"/>
                  </a:lnTo>
                  <a:cubicBezTo>
                    <a:pt x="622882" y="901756"/>
                    <a:pt x="344008" y="622882"/>
                    <a:pt x="0" y="62288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657058" y="558036"/>
              <a:ext cx="6534942" cy="5741929"/>
              <a:chOff x="5657058" y="558036"/>
              <a:chExt cx="6534942" cy="5741929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8534400" y="1148150"/>
                <a:ext cx="3657600" cy="4561700"/>
              </a:xfrm>
              <a:prstGeom prst="rect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28000">
                    <a:schemeClr val="accent1">
                      <a:alpha val="70000"/>
                    </a:schemeClr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kumimoji="1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5657058" y="558036"/>
                <a:ext cx="4075473" cy="5741929"/>
              </a:xfrm>
              <a:custGeom>
                <a:avLst/>
                <a:gdLst>
                  <a:gd name="connsiteX0" fmla="*/ 2359168 w 4075473"/>
                  <a:gd name="connsiteY0" fmla="*/ 195 h 5741929"/>
                  <a:gd name="connsiteX1" fmla="*/ 2862608 w 4075473"/>
                  <a:gd name="connsiteY1" fmla="*/ 69229 h 5741929"/>
                  <a:gd name="connsiteX2" fmla="*/ 4006245 w 4075473"/>
                  <a:gd name="connsiteY2" fmla="*/ 2167260 h 5741929"/>
                  <a:gd name="connsiteX3" fmla="*/ 3310896 w 4075473"/>
                  <a:gd name="connsiteY3" fmla="*/ 4529064 h 5741929"/>
                  <a:gd name="connsiteX4" fmla="*/ 1212866 w 4075473"/>
                  <a:gd name="connsiteY4" fmla="*/ 5672701 h 5741929"/>
                  <a:gd name="connsiteX5" fmla="*/ 69229 w 4075473"/>
                  <a:gd name="connsiteY5" fmla="*/ 3574671 h 5741929"/>
                  <a:gd name="connsiteX6" fmla="*/ 764578 w 4075473"/>
                  <a:gd name="connsiteY6" fmla="*/ 1212866 h 5741929"/>
                  <a:gd name="connsiteX7" fmla="*/ 2359168 w 4075473"/>
                  <a:gd name="connsiteY7" fmla="*/ 195 h 5741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75473" h="5741929">
                    <a:moveTo>
                      <a:pt x="2359168" y="195"/>
                    </a:moveTo>
                    <a:cubicBezTo>
                      <a:pt x="2525370" y="-2335"/>
                      <a:pt x="2694765" y="19814"/>
                      <a:pt x="2862608" y="69229"/>
                    </a:cubicBezTo>
                    <a:cubicBezTo>
                      <a:pt x="3757770" y="332777"/>
                      <a:pt x="4269794" y="1272098"/>
                      <a:pt x="4006245" y="2167260"/>
                    </a:cubicBezTo>
                    <a:lnTo>
                      <a:pt x="3310896" y="4529064"/>
                    </a:lnTo>
                    <a:cubicBezTo>
                      <a:pt x="3047348" y="5424226"/>
                      <a:pt x="2108028" y="5936250"/>
                      <a:pt x="1212866" y="5672701"/>
                    </a:cubicBezTo>
                    <a:cubicBezTo>
                      <a:pt x="317704" y="5409153"/>
                      <a:pt x="-194320" y="4469833"/>
                      <a:pt x="69229" y="3574671"/>
                    </a:cubicBezTo>
                    <a:lnTo>
                      <a:pt x="764578" y="1212866"/>
                    </a:lnTo>
                    <a:cubicBezTo>
                      <a:pt x="978711" y="485547"/>
                      <a:pt x="1638959" y="11159"/>
                      <a:pt x="2359168" y="195"/>
                    </a:cubicBezTo>
                    <a:close/>
                  </a:path>
                </a:pathLst>
              </a:custGeom>
              <a:blipFill rotWithShape="0">
                <a:blip r:embed="rId2"/>
                <a:srcRect/>
                <a:stretch>
                  <a:fillRect l="-76490" r="-70230"/>
                </a:stretch>
              </a:blipFill>
              <a:ln w="635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5" name="Title 4"/>
          <p:cNvSpPr>
            <a:spLocks noGrp="1"/>
          </p:cNvSpPr>
          <p:nvPr>
            <p:ph type="ctrTitle" hasCustomPrompt="1"/>
          </p:nvPr>
        </p:nvSpPr>
        <p:spPr>
          <a:xfrm>
            <a:off x="660399" y="1298276"/>
            <a:ext cx="5203011" cy="2183494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399" y="3676243"/>
            <a:ext cx="5203011" cy="76240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5113943"/>
            <a:ext cx="17018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417763"/>
            <a:ext cx="17018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b="-79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 hasCustomPrompt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0">
            <a:blip r:embed="rId2"/>
            <a:srcRect/>
            <a:stretch>
              <a:fillRect b="-79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lvl="0" algn="ctr"/>
            <a:endParaRPr lang="zh-CN" altLang="en-US"/>
          </a:p>
        </p:txBody>
      </p:sp>
      <p:sp>
        <p:nvSpPr>
          <p:cNvPr id="8" name="Rectangle: Rounded Corners 7"/>
          <p:cNvSpPr/>
          <p:nvPr/>
        </p:nvSpPr>
        <p:spPr>
          <a:xfrm>
            <a:off x="392877" y="491163"/>
            <a:ext cx="11406244" cy="5875674"/>
          </a:xfrm>
          <a:prstGeom prst="roundRect">
            <a:avLst>
              <a:gd name="adj" fmla="val 18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399" y="1500188"/>
            <a:ext cx="2836800" cy="9144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  <p:grpSp>
        <p:nvGrpSpPr>
          <p:cNvPr id="13" name="Group 12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Freeform: Shape 14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 flipH="1">
            <a:off x="0" y="-637708"/>
            <a:ext cx="12607225" cy="7495708"/>
            <a:chOff x="-415225" y="-637708"/>
            <a:chExt cx="12607225" cy="7495708"/>
          </a:xfrm>
        </p:grpSpPr>
        <p:grpSp>
          <p:nvGrpSpPr>
            <p:cNvPr id="3" name="Group 2"/>
            <p:cNvGrpSpPr/>
            <p:nvPr/>
          </p:nvGrpSpPr>
          <p:grpSpPr>
            <a:xfrm>
              <a:off x="-415225" y="-637708"/>
              <a:ext cx="7874000" cy="7495708"/>
              <a:chOff x="-415225" y="-637708"/>
              <a:chExt cx="7874000" cy="7495708"/>
            </a:xfrm>
          </p:grpSpPr>
          <p:sp>
            <p:nvSpPr>
              <p:cNvPr id="13" name="Freeform: Shape 12"/>
              <p:cNvSpPr/>
              <p:nvPr/>
            </p:nvSpPr>
            <p:spPr>
              <a:xfrm>
                <a:off x="3590225" y="3765756"/>
                <a:ext cx="3868550" cy="3092244"/>
              </a:xfrm>
              <a:custGeom>
                <a:avLst/>
                <a:gdLst>
                  <a:gd name="connsiteX0" fmla="*/ 1934275 w 3868550"/>
                  <a:gd name="connsiteY0" fmla="*/ 0 h 3092244"/>
                  <a:gd name="connsiteX1" fmla="*/ 3868550 w 3868550"/>
                  <a:gd name="connsiteY1" fmla="*/ 1934275 h 3092244"/>
                  <a:gd name="connsiteX2" fmla="*/ 3538206 w 3868550"/>
                  <a:gd name="connsiteY2" fmla="*/ 3015747 h 3092244"/>
                  <a:gd name="connsiteX3" fmla="*/ 3481003 w 3868550"/>
                  <a:gd name="connsiteY3" fmla="*/ 3092244 h 3092244"/>
                  <a:gd name="connsiteX4" fmla="*/ 387548 w 3868550"/>
                  <a:gd name="connsiteY4" fmla="*/ 3092244 h 3092244"/>
                  <a:gd name="connsiteX5" fmla="*/ 330344 w 3868550"/>
                  <a:gd name="connsiteY5" fmla="*/ 3015747 h 3092244"/>
                  <a:gd name="connsiteX6" fmla="*/ 0 w 3868550"/>
                  <a:gd name="connsiteY6" fmla="*/ 1934275 h 3092244"/>
                  <a:gd name="connsiteX7" fmla="*/ 1934275 w 3868550"/>
                  <a:gd name="connsiteY7" fmla="*/ 0 h 309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68550" h="3092244">
                    <a:moveTo>
                      <a:pt x="1934275" y="0"/>
                    </a:moveTo>
                    <a:cubicBezTo>
                      <a:pt x="3002546" y="0"/>
                      <a:pt x="3868550" y="866004"/>
                      <a:pt x="3868550" y="1934275"/>
                    </a:cubicBezTo>
                    <a:cubicBezTo>
                      <a:pt x="3868550" y="2334877"/>
                      <a:pt x="3746768" y="2707035"/>
                      <a:pt x="3538206" y="3015747"/>
                    </a:cubicBezTo>
                    <a:lnTo>
                      <a:pt x="3481003" y="3092244"/>
                    </a:lnTo>
                    <a:lnTo>
                      <a:pt x="387548" y="3092244"/>
                    </a:lnTo>
                    <a:lnTo>
                      <a:pt x="330344" y="3015747"/>
                    </a:lnTo>
                    <a:cubicBezTo>
                      <a:pt x="121782" y="2707035"/>
                      <a:pt x="0" y="2334877"/>
                      <a:pt x="0" y="1934275"/>
                    </a:cubicBezTo>
                    <a:cubicBezTo>
                      <a:pt x="0" y="866004"/>
                      <a:pt x="866005" y="0"/>
                      <a:pt x="1934275" y="0"/>
                    </a:cubicBez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Freeform: Shape 13"/>
              <p:cNvSpPr/>
              <p:nvPr/>
            </p:nvSpPr>
            <p:spPr>
              <a:xfrm>
                <a:off x="-415225" y="-637708"/>
                <a:ext cx="5203011" cy="5965958"/>
              </a:xfrm>
              <a:custGeom>
                <a:avLst/>
                <a:gdLst>
                  <a:gd name="connsiteX0" fmla="*/ 0 w 4476750"/>
                  <a:gd name="connsiteY0" fmla="*/ 0 h 5133201"/>
                  <a:gd name="connsiteX1" fmla="*/ 4130562 w 4476750"/>
                  <a:gd name="connsiteY1" fmla="*/ 0 h 5133201"/>
                  <a:gd name="connsiteX2" fmla="*/ 4193809 w 4476750"/>
                  <a:gd name="connsiteY2" fmla="*/ 131293 h 5133201"/>
                  <a:gd name="connsiteX3" fmla="*/ 4476750 w 4476750"/>
                  <a:gd name="connsiteY3" fmla="*/ 1532751 h 5133201"/>
                  <a:gd name="connsiteX4" fmla="*/ 876300 w 4476750"/>
                  <a:gd name="connsiteY4" fmla="*/ 5133201 h 5133201"/>
                  <a:gd name="connsiteX5" fmla="*/ 150684 w 4476750"/>
                  <a:gd name="connsiteY5" fmla="*/ 5060053 h 5133201"/>
                  <a:gd name="connsiteX6" fmla="*/ 0 w 4476750"/>
                  <a:gd name="connsiteY6" fmla="*/ 5025275 h 5133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76750" h="5133201">
                    <a:moveTo>
                      <a:pt x="0" y="0"/>
                    </a:moveTo>
                    <a:lnTo>
                      <a:pt x="4130562" y="0"/>
                    </a:lnTo>
                    <a:lnTo>
                      <a:pt x="4193809" y="131293"/>
                    </a:lnTo>
                    <a:cubicBezTo>
                      <a:pt x="4376002" y="562045"/>
                      <a:pt x="4476750" y="1035633"/>
                      <a:pt x="4476750" y="1532751"/>
                    </a:cubicBezTo>
                    <a:cubicBezTo>
                      <a:pt x="4476750" y="3521225"/>
                      <a:pt x="2864774" y="5133201"/>
                      <a:pt x="876300" y="5133201"/>
                    </a:cubicBezTo>
                    <a:cubicBezTo>
                      <a:pt x="627741" y="5133201"/>
                      <a:pt x="385065" y="5108014"/>
                      <a:pt x="150684" y="5060053"/>
                    </a:cubicBezTo>
                    <a:lnTo>
                      <a:pt x="0" y="5025275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Freeform: Shape 6"/>
            <p:cNvSpPr/>
            <p:nvPr/>
          </p:nvSpPr>
          <p:spPr>
            <a:xfrm>
              <a:off x="4270739" y="0"/>
              <a:ext cx="1321138" cy="660569"/>
            </a:xfrm>
            <a:custGeom>
              <a:avLst/>
              <a:gdLst>
                <a:gd name="connsiteX0" fmla="*/ 0 w 1321138"/>
                <a:gd name="connsiteY0" fmla="*/ 0 h 660569"/>
                <a:gd name="connsiteX1" fmla="*/ 330284 w 1321138"/>
                <a:gd name="connsiteY1" fmla="*/ 0 h 660569"/>
                <a:gd name="connsiteX2" fmla="*/ 660568 w 1321138"/>
                <a:gd name="connsiteY2" fmla="*/ 330284 h 660569"/>
                <a:gd name="connsiteX3" fmla="*/ 990852 w 1321138"/>
                <a:gd name="connsiteY3" fmla="*/ 0 h 660569"/>
                <a:gd name="connsiteX4" fmla="*/ 1321138 w 1321138"/>
                <a:gd name="connsiteY4" fmla="*/ 0 h 660569"/>
                <a:gd name="connsiteX5" fmla="*/ 660569 w 1321138"/>
                <a:gd name="connsiteY5" fmla="*/ 660569 h 660569"/>
                <a:gd name="connsiteX6" fmla="*/ 0 w 1321138"/>
                <a:gd name="connsiteY6" fmla="*/ 0 h 66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1138" h="660569">
                  <a:moveTo>
                    <a:pt x="0" y="0"/>
                  </a:moveTo>
                  <a:lnTo>
                    <a:pt x="330284" y="0"/>
                  </a:lnTo>
                  <a:cubicBezTo>
                    <a:pt x="330284" y="182411"/>
                    <a:pt x="478158" y="330284"/>
                    <a:pt x="660568" y="330284"/>
                  </a:cubicBezTo>
                  <a:cubicBezTo>
                    <a:pt x="842979" y="330284"/>
                    <a:pt x="990852" y="182411"/>
                    <a:pt x="990852" y="0"/>
                  </a:cubicBezTo>
                  <a:lnTo>
                    <a:pt x="1321138" y="0"/>
                  </a:lnTo>
                  <a:cubicBezTo>
                    <a:pt x="1321138" y="364822"/>
                    <a:pt x="1025391" y="660569"/>
                    <a:pt x="660569" y="660569"/>
                  </a:cubicBezTo>
                  <a:cubicBezTo>
                    <a:pt x="295748" y="660569"/>
                    <a:pt x="0" y="364822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-1" y="5430033"/>
              <a:ext cx="1427967" cy="1427967"/>
            </a:xfrm>
            <a:custGeom>
              <a:avLst/>
              <a:gdLst>
                <a:gd name="connsiteX0" fmla="*/ 0 w 1245764"/>
                <a:gd name="connsiteY0" fmla="*/ 0 h 1245764"/>
                <a:gd name="connsiteX1" fmla="*/ 1245764 w 1245764"/>
                <a:gd name="connsiteY1" fmla="*/ 1245764 h 1245764"/>
                <a:gd name="connsiteX2" fmla="*/ 622882 w 1245764"/>
                <a:gd name="connsiteY2" fmla="*/ 1245764 h 1245764"/>
                <a:gd name="connsiteX3" fmla="*/ 0 w 1245764"/>
                <a:gd name="connsiteY3" fmla="*/ 622882 h 124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5764" h="1245764">
                  <a:moveTo>
                    <a:pt x="0" y="0"/>
                  </a:moveTo>
                  <a:cubicBezTo>
                    <a:pt x="688016" y="0"/>
                    <a:pt x="1245764" y="557748"/>
                    <a:pt x="1245764" y="1245764"/>
                  </a:cubicBezTo>
                  <a:lnTo>
                    <a:pt x="622882" y="1245764"/>
                  </a:lnTo>
                  <a:cubicBezTo>
                    <a:pt x="622882" y="901756"/>
                    <a:pt x="344008" y="622882"/>
                    <a:pt x="0" y="62288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5657058" y="558036"/>
              <a:ext cx="6534942" cy="5741929"/>
              <a:chOff x="5657058" y="558036"/>
              <a:chExt cx="6534942" cy="5741929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8534400" y="1148150"/>
                <a:ext cx="3657600" cy="4561700"/>
              </a:xfrm>
              <a:prstGeom prst="rect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28000">
                    <a:schemeClr val="accent1">
                      <a:alpha val="70000"/>
                    </a:schemeClr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kumimoji="1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: Shape 11"/>
              <p:cNvSpPr/>
              <p:nvPr/>
            </p:nvSpPr>
            <p:spPr>
              <a:xfrm>
                <a:off x="5657058" y="558036"/>
                <a:ext cx="4075473" cy="5741929"/>
              </a:xfrm>
              <a:custGeom>
                <a:avLst/>
                <a:gdLst>
                  <a:gd name="connsiteX0" fmla="*/ 2359168 w 4075473"/>
                  <a:gd name="connsiteY0" fmla="*/ 195 h 5741929"/>
                  <a:gd name="connsiteX1" fmla="*/ 2862608 w 4075473"/>
                  <a:gd name="connsiteY1" fmla="*/ 69229 h 5741929"/>
                  <a:gd name="connsiteX2" fmla="*/ 4006245 w 4075473"/>
                  <a:gd name="connsiteY2" fmla="*/ 2167260 h 5741929"/>
                  <a:gd name="connsiteX3" fmla="*/ 3310896 w 4075473"/>
                  <a:gd name="connsiteY3" fmla="*/ 4529064 h 5741929"/>
                  <a:gd name="connsiteX4" fmla="*/ 1212866 w 4075473"/>
                  <a:gd name="connsiteY4" fmla="*/ 5672701 h 5741929"/>
                  <a:gd name="connsiteX5" fmla="*/ 69229 w 4075473"/>
                  <a:gd name="connsiteY5" fmla="*/ 3574671 h 5741929"/>
                  <a:gd name="connsiteX6" fmla="*/ 764578 w 4075473"/>
                  <a:gd name="connsiteY6" fmla="*/ 1212866 h 5741929"/>
                  <a:gd name="connsiteX7" fmla="*/ 2359168 w 4075473"/>
                  <a:gd name="connsiteY7" fmla="*/ 195 h 5741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75473" h="5741929">
                    <a:moveTo>
                      <a:pt x="2359168" y="195"/>
                    </a:moveTo>
                    <a:cubicBezTo>
                      <a:pt x="2525370" y="-2335"/>
                      <a:pt x="2694765" y="19814"/>
                      <a:pt x="2862608" y="69229"/>
                    </a:cubicBezTo>
                    <a:cubicBezTo>
                      <a:pt x="3757770" y="332777"/>
                      <a:pt x="4269794" y="1272098"/>
                      <a:pt x="4006245" y="2167260"/>
                    </a:cubicBezTo>
                    <a:lnTo>
                      <a:pt x="3310896" y="4529064"/>
                    </a:lnTo>
                    <a:cubicBezTo>
                      <a:pt x="3047348" y="5424226"/>
                      <a:pt x="2108028" y="5936250"/>
                      <a:pt x="1212866" y="5672701"/>
                    </a:cubicBezTo>
                    <a:cubicBezTo>
                      <a:pt x="317704" y="5409153"/>
                      <a:pt x="-194320" y="4469833"/>
                      <a:pt x="69229" y="3574671"/>
                    </a:cubicBezTo>
                    <a:lnTo>
                      <a:pt x="764578" y="1212866"/>
                    </a:lnTo>
                    <a:cubicBezTo>
                      <a:pt x="978711" y="485547"/>
                      <a:pt x="1638959" y="11159"/>
                      <a:pt x="2359168" y="195"/>
                    </a:cubicBezTo>
                    <a:close/>
                  </a:path>
                </a:pathLst>
              </a:custGeom>
              <a:blipFill rotWithShape="0">
                <a:blip r:embed="rId2"/>
                <a:srcRect/>
                <a:stretch>
                  <a:fillRect l="-76490" r="-70230"/>
                </a:stretch>
              </a:blipFill>
              <a:ln w="635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877050" y="2762340"/>
            <a:ext cx="4641849" cy="58477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32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 hasCustomPrompt="1"/>
          </p:nvPr>
        </p:nvSpPr>
        <p:spPr>
          <a:xfrm>
            <a:off x="6877050" y="3358969"/>
            <a:ext cx="4641849" cy="11049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b="-79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zh-CN" alt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415225" y="-637708"/>
            <a:ext cx="12607225" cy="7495708"/>
            <a:chOff x="-415225" y="-637708"/>
            <a:chExt cx="12607225" cy="7495708"/>
          </a:xfrm>
        </p:grpSpPr>
        <p:grpSp>
          <p:nvGrpSpPr>
            <p:cNvPr id="3" name="Group 2"/>
            <p:cNvGrpSpPr/>
            <p:nvPr/>
          </p:nvGrpSpPr>
          <p:grpSpPr>
            <a:xfrm>
              <a:off x="-415225" y="-637708"/>
              <a:ext cx="7874000" cy="7495708"/>
              <a:chOff x="-415225" y="-637708"/>
              <a:chExt cx="7874000" cy="7495708"/>
            </a:xfrm>
          </p:grpSpPr>
          <p:sp>
            <p:nvSpPr>
              <p:cNvPr id="12" name="Freeform: Shape 11"/>
              <p:cNvSpPr/>
              <p:nvPr/>
            </p:nvSpPr>
            <p:spPr>
              <a:xfrm>
                <a:off x="3590225" y="3765756"/>
                <a:ext cx="3868550" cy="3092244"/>
              </a:xfrm>
              <a:custGeom>
                <a:avLst/>
                <a:gdLst>
                  <a:gd name="connsiteX0" fmla="*/ 1934275 w 3868550"/>
                  <a:gd name="connsiteY0" fmla="*/ 0 h 3092244"/>
                  <a:gd name="connsiteX1" fmla="*/ 3868550 w 3868550"/>
                  <a:gd name="connsiteY1" fmla="*/ 1934275 h 3092244"/>
                  <a:gd name="connsiteX2" fmla="*/ 3538206 w 3868550"/>
                  <a:gd name="connsiteY2" fmla="*/ 3015747 h 3092244"/>
                  <a:gd name="connsiteX3" fmla="*/ 3481003 w 3868550"/>
                  <a:gd name="connsiteY3" fmla="*/ 3092244 h 3092244"/>
                  <a:gd name="connsiteX4" fmla="*/ 387548 w 3868550"/>
                  <a:gd name="connsiteY4" fmla="*/ 3092244 h 3092244"/>
                  <a:gd name="connsiteX5" fmla="*/ 330344 w 3868550"/>
                  <a:gd name="connsiteY5" fmla="*/ 3015747 h 3092244"/>
                  <a:gd name="connsiteX6" fmla="*/ 0 w 3868550"/>
                  <a:gd name="connsiteY6" fmla="*/ 1934275 h 3092244"/>
                  <a:gd name="connsiteX7" fmla="*/ 1934275 w 3868550"/>
                  <a:gd name="connsiteY7" fmla="*/ 0 h 309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68550" h="3092244">
                    <a:moveTo>
                      <a:pt x="1934275" y="0"/>
                    </a:moveTo>
                    <a:cubicBezTo>
                      <a:pt x="3002546" y="0"/>
                      <a:pt x="3868550" y="866004"/>
                      <a:pt x="3868550" y="1934275"/>
                    </a:cubicBezTo>
                    <a:cubicBezTo>
                      <a:pt x="3868550" y="2334877"/>
                      <a:pt x="3746768" y="2707035"/>
                      <a:pt x="3538206" y="3015747"/>
                    </a:cubicBezTo>
                    <a:lnTo>
                      <a:pt x="3481003" y="3092244"/>
                    </a:lnTo>
                    <a:lnTo>
                      <a:pt x="387548" y="3092244"/>
                    </a:lnTo>
                    <a:lnTo>
                      <a:pt x="330344" y="3015747"/>
                    </a:lnTo>
                    <a:cubicBezTo>
                      <a:pt x="121782" y="2707035"/>
                      <a:pt x="0" y="2334877"/>
                      <a:pt x="0" y="1934275"/>
                    </a:cubicBezTo>
                    <a:cubicBezTo>
                      <a:pt x="0" y="866004"/>
                      <a:pt x="866005" y="0"/>
                      <a:pt x="1934275" y="0"/>
                    </a:cubicBez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Freeform: Shape 12"/>
              <p:cNvSpPr/>
              <p:nvPr/>
            </p:nvSpPr>
            <p:spPr>
              <a:xfrm>
                <a:off x="-415225" y="-637708"/>
                <a:ext cx="5203011" cy="5965958"/>
              </a:xfrm>
              <a:custGeom>
                <a:avLst/>
                <a:gdLst>
                  <a:gd name="connsiteX0" fmla="*/ 0 w 4476750"/>
                  <a:gd name="connsiteY0" fmla="*/ 0 h 5133201"/>
                  <a:gd name="connsiteX1" fmla="*/ 4130562 w 4476750"/>
                  <a:gd name="connsiteY1" fmla="*/ 0 h 5133201"/>
                  <a:gd name="connsiteX2" fmla="*/ 4193809 w 4476750"/>
                  <a:gd name="connsiteY2" fmla="*/ 131293 h 5133201"/>
                  <a:gd name="connsiteX3" fmla="*/ 4476750 w 4476750"/>
                  <a:gd name="connsiteY3" fmla="*/ 1532751 h 5133201"/>
                  <a:gd name="connsiteX4" fmla="*/ 876300 w 4476750"/>
                  <a:gd name="connsiteY4" fmla="*/ 5133201 h 5133201"/>
                  <a:gd name="connsiteX5" fmla="*/ 150684 w 4476750"/>
                  <a:gd name="connsiteY5" fmla="*/ 5060053 h 5133201"/>
                  <a:gd name="connsiteX6" fmla="*/ 0 w 4476750"/>
                  <a:gd name="connsiteY6" fmla="*/ 5025275 h 5133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76750" h="5133201">
                    <a:moveTo>
                      <a:pt x="0" y="0"/>
                    </a:moveTo>
                    <a:lnTo>
                      <a:pt x="4130562" y="0"/>
                    </a:lnTo>
                    <a:lnTo>
                      <a:pt x="4193809" y="131293"/>
                    </a:lnTo>
                    <a:cubicBezTo>
                      <a:pt x="4376002" y="562045"/>
                      <a:pt x="4476750" y="1035633"/>
                      <a:pt x="4476750" y="1532751"/>
                    </a:cubicBezTo>
                    <a:cubicBezTo>
                      <a:pt x="4476750" y="3521225"/>
                      <a:pt x="2864774" y="5133201"/>
                      <a:pt x="876300" y="5133201"/>
                    </a:cubicBezTo>
                    <a:cubicBezTo>
                      <a:pt x="627741" y="5133201"/>
                      <a:pt x="385065" y="5108014"/>
                      <a:pt x="150684" y="5060053"/>
                    </a:cubicBezTo>
                    <a:lnTo>
                      <a:pt x="0" y="5025275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Freeform: Shape 5"/>
            <p:cNvSpPr/>
            <p:nvPr/>
          </p:nvSpPr>
          <p:spPr>
            <a:xfrm>
              <a:off x="4270739" y="0"/>
              <a:ext cx="1321138" cy="660569"/>
            </a:xfrm>
            <a:custGeom>
              <a:avLst/>
              <a:gdLst>
                <a:gd name="connsiteX0" fmla="*/ 0 w 1321138"/>
                <a:gd name="connsiteY0" fmla="*/ 0 h 660569"/>
                <a:gd name="connsiteX1" fmla="*/ 330284 w 1321138"/>
                <a:gd name="connsiteY1" fmla="*/ 0 h 660569"/>
                <a:gd name="connsiteX2" fmla="*/ 660568 w 1321138"/>
                <a:gd name="connsiteY2" fmla="*/ 330284 h 660569"/>
                <a:gd name="connsiteX3" fmla="*/ 990852 w 1321138"/>
                <a:gd name="connsiteY3" fmla="*/ 0 h 660569"/>
                <a:gd name="connsiteX4" fmla="*/ 1321138 w 1321138"/>
                <a:gd name="connsiteY4" fmla="*/ 0 h 660569"/>
                <a:gd name="connsiteX5" fmla="*/ 660569 w 1321138"/>
                <a:gd name="connsiteY5" fmla="*/ 660569 h 660569"/>
                <a:gd name="connsiteX6" fmla="*/ 0 w 1321138"/>
                <a:gd name="connsiteY6" fmla="*/ 0 h 66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1138" h="660569">
                  <a:moveTo>
                    <a:pt x="0" y="0"/>
                  </a:moveTo>
                  <a:lnTo>
                    <a:pt x="330284" y="0"/>
                  </a:lnTo>
                  <a:cubicBezTo>
                    <a:pt x="330284" y="182411"/>
                    <a:pt x="478158" y="330284"/>
                    <a:pt x="660568" y="330284"/>
                  </a:cubicBezTo>
                  <a:cubicBezTo>
                    <a:pt x="842979" y="330284"/>
                    <a:pt x="990852" y="182411"/>
                    <a:pt x="990852" y="0"/>
                  </a:cubicBezTo>
                  <a:lnTo>
                    <a:pt x="1321138" y="0"/>
                  </a:lnTo>
                  <a:cubicBezTo>
                    <a:pt x="1321138" y="364822"/>
                    <a:pt x="1025391" y="660569"/>
                    <a:pt x="660569" y="660569"/>
                  </a:cubicBezTo>
                  <a:cubicBezTo>
                    <a:pt x="295748" y="660569"/>
                    <a:pt x="0" y="364822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-1" y="5430033"/>
              <a:ext cx="1427967" cy="1427967"/>
            </a:xfrm>
            <a:custGeom>
              <a:avLst/>
              <a:gdLst>
                <a:gd name="connsiteX0" fmla="*/ 0 w 1245764"/>
                <a:gd name="connsiteY0" fmla="*/ 0 h 1245764"/>
                <a:gd name="connsiteX1" fmla="*/ 1245764 w 1245764"/>
                <a:gd name="connsiteY1" fmla="*/ 1245764 h 1245764"/>
                <a:gd name="connsiteX2" fmla="*/ 622882 w 1245764"/>
                <a:gd name="connsiteY2" fmla="*/ 1245764 h 1245764"/>
                <a:gd name="connsiteX3" fmla="*/ 0 w 1245764"/>
                <a:gd name="connsiteY3" fmla="*/ 622882 h 124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5764" h="1245764">
                  <a:moveTo>
                    <a:pt x="0" y="0"/>
                  </a:moveTo>
                  <a:cubicBezTo>
                    <a:pt x="688016" y="0"/>
                    <a:pt x="1245764" y="557748"/>
                    <a:pt x="1245764" y="1245764"/>
                  </a:cubicBezTo>
                  <a:lnTo>
                    <a:pt x="622882" y="1245764"/>
                  </a:lnTo>
                  <a:cubicBezTo>
                    <a:pt x="622882" y="901756"/>
                    <a:pt x="344008" y="622882"/>
                    <a:pt x="0" y="62288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5657058" y="558036"/>
              <a:ext cx="6534942" cy="5741929"/>
              <a:chOff x="5657058" y="558036"/>
              <a:chExt cx="6534942" cy="5741929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8534400" y="1148150"/>
                <a:ext cx="3657600" cy="4561700"/>
              </a:xfrm>
              <a:prstGeom prst="rect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28000">
                    <a:schemeClr val="accent1">
                      <a:alpha val="70000"/>
                    </a:schemeClr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kumimoji="1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5657058" y="558036"/>
                <a:ext cx="4075473" cy="5741929"/>
              </a:xfrm>
              <a:custGeom>
                <a:avLst/>
                <a:gdLst>
                  <a:gd name="connsiteX0" fmla="*/ 2359168 w 4075473"/>
                  <a:gd name="connsiteY0" fmla="*/ 195 h 5741929"/>
                  <a:gd name="connsiteX1" fmla="*/ 2862608 w 4075473"/>
                  <a:gd name="connsiteY1" fmla="*/ 69229 h 5741929"/>
                  <a:gd name="connsiteX2" fmla="*/ 4006245 w 4075473"/>
                  <a:gd name="connsiteY2" fmla="*/ 2167260 h 5741929"/>
                  <a:gd name="connsiteX3" fmla="*/ 3310896 w 4075473"/>
                  <a:gd name="connsiteY3" fmla="*/ 4529064 h 5741929"/>
                  <a:gd name="connsiteX4" fmla="*/ 1212866 w 4075473"/>
                  <a:gd name="connsiteY4" fmla="*/ 5672701 h 5741929"/>
                  <a:gd name="connsiteX5" fmla="*/ 69229 w 4075473"/>
                  <a:gd name="connsiteY5" fmla="*/ 3574671 h 5741929"/>
                  <a:gd name="connsiteX6" fmla="*/ 764578 w 4075473"/>
                  <a:gd name="connsiteY6" fmla="*/ 1212866 h 5741929"/>
                  <a:gd name="connsiteX7" fmla="*/ 2359168 w 4075473"/>
                  <a:gd name="connsiteY7" fmla="*/ 195 h 5741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75473" h="5741929">
                    <a:moveTo>
                      <a:pt x="2359168" y="195"/>
                    </a:moveTo>
                    <a:cubicBezTo>
                      <a:pt x="2525370" y="-2335"/>
                      <a:pt x="2694765" y="19814"/>
                      <a:pt x="2862608" y="69229"/>
                    </a:cubicBezTo>
                    <a:cubicBezTo>
                      <a:pt x="3757770" y="332777"/>
                      <a:pt x="4269794" y="1272098"/>
                      <a:pt x="4006245" y="2167260"/>
                    </a:cubicBezTo>
                    <a:lnTo>
                      <a:pt x="3310896" y="4529064"/>
                    </a:lnTo>
                    <a:cubicBezTo>
                      <a:pt x="3047348" y="5424226"/>
                      <a:pt x="2108028" y="5936250"/>
                      <a:pt x="1212866" y="5672701"/>
                    </a:cubicBezTo>
                    <a:cubicBezTo>
                      <a:pt x="317704" y="5409153"/>
                      <a:pt x="-194320" y="4469833"/>
                      <a:pt x="69229" y="3574671"/>
                    </a:cubicBezTo>
                    <a:lnTo>
                      <a:pt x="764578" y="1212866"/>
                    </a:lnTo>
                    <a:cubicBezTo>
                      <a:pt x="978711" y="485547"/>
                      <a:pt x="1638959" y="11159"/>
                      <a:pt x="2359168" y="195"/>
                    </a:cubicBezTo>
                    <a:close/>
                  </a:path>
                </a:pathLst>
              </a:custGeom>
              <a:blipFill rotWithShape="0">
                <a:blip r:embed="rId2"/>
                <a:srcRect/>
                <a:stretch>
                  <a:fillRect l="-76490" r="-70230"/>
                </a:stretch>
              </a:blipFill>
              <a:ln w="635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1" y="1089025"/>
            <a:ext cx="4931476" cy="3092244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4900025"/>
            <a:ext cx="169867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227916"/>
            <a:ext cx="169867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5" Type="http://schemas.openxmlformats.org/officeDocument/2006/relationships/slideLayout" Target="../slideLayouts/slideLayout5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slideLayout" Target="../slideLayouts/slideLayout5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5" Type="http://schemas.openxmlformats.org/officeDocument/2006/relationships/slideLayout" Target="../slideLayouts/slideLayout5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345555" y="2430780"/>
            <a:ext cx="5173345" cy="584835"/>
          </a:xfrm>
        </p:spPr>
        <p:txBody>
          <a:bodyPr wrap="square">
            <a:normAutofit fontScale="90000"/>
          </a:bodyPr>
          <a:lstStyle/>
          <a:p>
            <a:pPr lvl="0"/>
            <a:r>
              <a:rPr lang="en-US"/>
              <a:t>03.Risks, Tests &amp; Team Plan</a:t>
            </a:r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Mitigations, measurable checks, ownership and milestones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íṡliḍe"/>
          <p:cNvGrpSpPr/>
          <p:nvPr>
            <p:custDataLst>
              <p:tags r:id="rId1"/>
            </p:custDataLst>
          </p:nvPr>
        </p:nvGrpSpPr>
        <p:grpSpPr>
          <a:xfrm>
            <a:off x="660400" y="1156685"/>
            <a:ext cx="11531600" cy="5007579"/>
            <a:chOff x="660400" y="1156685"/>
            <a:chExt cx="11531600" cy="5007579"/>
          </a:xfrm>
        </p:grpSpPr>
        <p:cxnSp>
          <p:nvCxnSpPr>
            <p:cNvPr id="2" name="îṣlïḍé"/>
            <p:cNvCxnSpPr/>
            <p:nvPr/>
          </p:nvCxnSpPr>
          <p:spPr>
            <a:xfrm>
              <a:off x="6135624" y="129844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3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" name="iṩ1îḋê"/>
            <p:cNvSpPr txBox="1"/>
            <p:nvPr>
              <p:custDataLst>
                <p:tags r:id="rId2"/>
              </p:custDataLst>
            </p:nvPr>
          </p:nvSpPr>
          <p:spPr>
            <a:xfrm>
              <a:off x="6263640" y="12984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LLM misclassification</a:t>
              </a:r>
              <a:endParaRPr lang="zh-CN" altLang="en-US" sz="1600" b="1" dirty="0"/>
            </a:p>
          </p:txBody>
        </p:sp>
        <p:sp>
          <p:nvSpPr>
            <p:cNvPr id="4" name="ïṡľïdé"/>
            <p:cNvSpPr txBox="1"/>
            <p:nvPr>
              <p:custDataLst>
                <p:tags r:id="rId3"/>
              </p:custDataLst>
            </p:nvPr>
          </p:nvSpPr>
          <p:spPr>
            <a:xfrm>
              <a:off x="6263640" y="166420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Rules as fallback + user corrections + labeled-sample calibration</a:t>
              </a:r>
              <a:endParaRPr lang="zh-CN" altLang="en-US" sz="1200" dirty="0"/>
            </a:p>
          </p:txBody>
        </p:sp>
        <p:sp>
          <p:nvSpPr>
            <p:cNvPr id="6" name="işḷîḋe"/>
            <p:cNvSpPr txBox="1"/>
            <p:nvPr>
              <p:custDataLst>
                <p:tags r:id="rId4"/>
              </p:custDataLst>
            </p:nvPr>
          </p:nvSpPr>
          <p:spPr>
            <a:xfrm>
              <a:off x="6263640" y="294436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</a:rPr>
                <a:t>Calculation errors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îṡliḋè"/>
            <p:cNvSpPr txBox="1"/>
            <p:nvPr>
              <p:custDataLst>
                <p:tags r:id="rId5"/>
              </p:custDataLst>
            </p:nvPr>
          </p:nvSpPr>
          <p:spPr>
            <a:xfrm>
              <a:off x="6263640" y="331012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/>
                  </a:solidFill>
                </a:rPr>
                <a:t>All amounts and ratios computed by Pandas/SQL code, never the LLM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íşḷîdè"/>
            <p:cNvCxnSpPr/>
            <p:nvPr/>
          </p:nvCxnSpPr>
          <p:spPr>
            <a:xfrm>
              <a:off x="6135624" y="294436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iṥḻídè"/>
            <p:cNvSpPr txBox="1"/>
            <p:nvPr>
              <p:custDataLst>
                <p:tags r:id="rId6"/>
              </p:custDataLst>
            </p:nvPr>
          </p:nvSpPr>
          <p:spPr>
            <a:xfrm>
              <a:off x="6263640" y="376732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Data privacy</a:t>
              </a:r>
              <a:endParaRPr lang="zh-CN" altLang="en-US" sz="1600" b="1" dirty="0"/>
            </a:p>
          </p:txBody>
        </p:sp>
        <p:sp>
          <p:nvSpPr>
            <p:cNvPr id="10" name="îṩļîde"/>
            <p:cNvSpPr txBox="1"/>
            <p:nvPr>
              <p:custDataLst>
                <p:tags r:id="rId7"/>
              </p:custDataLst>
            </p:nvPr>
          </p:nvSpPr>
          <p:spPr>
            <a:xfrm>
              <a:off x="6263640" y="413308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Local and sample data by default; nothing uploaded externally</a:t>
              </a:r>
              <a:endParaRPr lang="zh-CN" altLang="en-US" sz="1200" dirty="0"/>
            </a:p>
          </p:txBody>
        </p:sp>
        <p:cxnSp>
          <p:nvCxnSpPr>
            <p:cNvPr id="11" name="ïṧlíḑê"/>
            <p:cNvCxnSpPr/>
            <p:nvPr/>
          </p:nvCxnSpPr>
          <p:spPr>
            <a:xfrm>
              <a:off x="6135624" y="459028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îs1îḓè"/>
            <p:cNvSpPr txBox="1"/>
            <p:nvPr>
              <p:custDataLst>
                <p:tags r:id="rId8"/>
              </p:custDataLst>
            </p:nvPr>
          </p:nvSpPr>
          <p:spPr>
            <a:xfrm>
              <a:off x="6263640" y="459028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Scope creep</a:t>
              </a:r>
              <a:endParaRPr lang="zh-CN" altLang="en-US" sz="1600" b="1" dirty="0"/>
            </a:p>
          </p:txBody>
        </p:sp>
        <p:sp>
          <p:nvSpPr>
            <p:cNvPr id="13" name="ïś1ïḋè"/>
            <p:cNvSpPr txBox="1"/>
            <p:nvPr>
              <p:custDataLst>
                <p:tags r:id="rId9"/>
              </p:custDataLst>
            </p:nvPr>
          </p:nvSpPr>
          <p:spPr>
            <a:xfrm>
              <a:off x="6263640" y="495604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One fixed main flow + three user stories; changes go to re-scoping</a:t>
              </a:r>
              <a:endParaRPr lang="zh-CN" altLang="en-US" sz="1200" dirty="0"/>
            </a:p>
          </p:txBody>
        </p:sp>
        <p:sp>
          <p:nvSpPr>
            <p:cNvPr id="15" name="ïṧḷïḑê"/>
            <p:cNvSpPr txBox="1"/>
            <p:nvPr>
              <p:custDataLst>
                <p:tags r:id="rId10"/>
              </p:custDataLst>
            </p:nvPr>
          </p:nvSpPr>
          <p:spPr>
            <a:xfrm>
              <a:off x="6263640" y="54132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Malformed inputs</a:t>
              </a:r>
              <a:endParaRPr lang="zh-CN" altLang="en-US" sz="1600" b="1" dirty="0"/>
            </a:p>
          </p:txBody>
        </p:sp>
        <p:sp>
          <p:nvSpPr>
            <p:cNvPr id="16" name="ïş1íďè"/>
            <p:cNvSpPr txBox="1"/>
            <p:nvPr>
              <p:custDataLst>
                <p:tags r:id="rId11"/>
              </p:custDataLst>
            </p:nvPr>
          </p:nvSpPr>
          <p:spPr>
            <a:xfrm>
              <a:off x="6263640" y="577900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Dedup, field validation and missing-value prompts at import</a:t>
              </a:r>
              <a:endParaRPr lang="zh-CN" altLang="en-US" sz="1200" dirty="0"/>
            </a:p>
          </p:txBody>
        </p:sp>
        <p:sp>
          <p:nvSpPr>
            <p:cNvPr id="27" name="íŝ1ïḋe"/>
            <p:cNvSpPr txBox="1"/>
            <p:nvPr/>
          </p:nvSpPr>
          <p:spPr>
            <a:xfrm>
              <a:off x="660400" y="1156685"/>
              <a:ext cx="4000501" cy="173356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Six risks, each with a working mitigation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iṩ1îḋê"/>
            <p:cNvSpPr txBox="1"/>
            <p:nvPr>
              <p:custDataLst>
                <p:tags r:id="rId12"/>
              </p:custDataLst>
            </p:nvPr>
          </p:nvSpPr>
          <p:spPr>
            <a:xfrm>
              <a:off x="6263640" y="212140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Ungrounded, hallucinated answers</a:t>
              </a:r>
              <a:endParaRPr lang="zh-CN" altLang="en-US" sz="1600" b="1" dirty="0"/>
            </a:p>
          </p:txBody>
        </p:sp>
        <p:sp>
          <p:nvSpPr>
            <p:cNvPr id="17" name="ïṡľïdé"/>
            <p:cNvSpPr txBox="1"/>
            <p:nvPr>
              <p:custDataLst>
                <p:tags r:id="rId13"/>
              </p:custDataLst>
            </p:nvPr>
          </p:nvSpPr>
          <p:spPr>
            <a:xfrm>
              <a:off x="6263640" y="248716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Answer only from imported data, citing source records; else refuse</a:t>
              </a:r>
              <a:endParaRPr lang="zh-CN" altLang="en-US" sz="1200" dirty="0"/>
            </a:p>
          </p:txBody>
        </p: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Risks &amp; Mitigations</a:t>
            </a:r>
            <a:endParaRPr lang="en-US" dirty="0"/>
          </a:p>
        </p:txBody>
      </p: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íṡliḍe"/>
          <p:cNvGrpSpPr/>
          <p:nvPr>
            <p:custDataLst>
              <p:tags r:id="rId1"/>
            </p:custDataLst>
          </p:nvPr>
        </p:nvGrpSpPr>
        <p:grpSpPr>
          <a:xfrm>
            <a:off x="660400" y="1156685"/>
            <a:ext cx="11531600" cy="5007579"/>
            <a:chOff x="660400" y="1156685"/>
            <a:chExt cx="11531600" cy="5007579"/>
          </a:xfrm>
        </p:grpSpPr>
        <p:cxnSp>
          <p:nvCxnSpPr>
            <p:cNvPr id="2" name="îṣlïḍé"/>
            <p:cNvCxnSpPr/>
            <p:nvPr/>
          </p:nvCxnSpPr>
          <p:spPr>
            <a:xfrm>
              <a:off x="6135624" y="129844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3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" name="iṩ1îḋê"/>
            <p:cNvSpPr txBox="1"/>
            <p:nvPr>
              <p:custDataLst>
                <p:tags r:id="rId2"/>
              </p:custDataLst>
            </p:nvPr>
          </p:nvSpPr>
          <p:spPr>
            <a:xfrm>
              <a:off x="6263640" y="12984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Classification accuracy ≥ 90%</a:t>
              </a:r>
              <a:endParaRPr lang="zh-CN" altLang="en-US" sz="1600" b="1" dirty="0"/>
            </a:p>
          </p:txBody>
        </p:sp>
        <p:sp>
          <p:nvSpPr>
            <p:cNvPr id="4" name="ïṡľïdé"/>
            <p:cNvSpPr txBox="1"/>
            <p:nvPr>
              <p:custDataLst>
                <p:tags r:id="rId3"/>
              </p:custDataLst>
            </p:nvPr>
          </p:nvSpPr>
          <p:spPr>
            <a:xfrm>
              <a:off x="6263640" y="166420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Validated on 100 hand-labeled transaction records</a:t>
              </a:r>
              <a:endParaRPr lang="zh-CN" altLang="en-US" sz="1200" dirty="0"/>
            </a:p>
          </p:txBody>
        </p:sp>
        <p:sp>
          <p:nvSpPr>
            <p:cNvPr id="6" name="işḷîḋe"/>
            <p:cNvSpPr txBox="1"/>
            <p:nvPr>
              <p:custDataLst>
                <p:tags r:id="rId4"/>
              </p:custDataLst>
            </p:nvPr>
          </p:nvSpPr>
          <p:spPr>
            <a:xfrm>
              <a:off x="6263640" y="294436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</a:rPr>
                <a:t>Unit-tested calculations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îṡliḋè"/>
            <p:cNvSpPr txBox="1"/>
            <p:nvPr>
              <p:custDataLst>
                <p:tags r:id="rId5"/>
              </p:custDataLst>
            </p:nvPr>
          </p:nvSpPr>
          <p:spPr>
            <a:xfrm>
              <a:off x="6263640" y="331012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/>
                  </a:solidFill>
                </a:rPr>
                <a:t>Three suites: aggregation, trends, budgets - code only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íşḷîdè"/>
            <p:cNvCxnSpPr/>
            <p:nvPr/>
          </p:nvCxnSpPr>
          <p:spPr>
            <a:xfrm>
              <a:off x="6135624" y="294436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iṥḻídè"/>
            <p:cNvSpPr txBox="1"/>
            <p:nvPr>
              <p:custDataLst>
                <p:tags r:id="rId6"/>
              </p:custDataLst>
            </p:nvPr>
          </p:nvSpPr>
          <p:spPr>
            <a:xfrm>
              <a:off x="6263640" y="376732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Privacy check: 0 uploads</a:t>
              </a:r>
              <a:endParaRPr lang="zh-CN" altLang="en-US" sz="1600" b="1" dirty="0"/>
            </a:p>
          </p:txBody>
        </p:sp>
        <p:sp>
          <p:nvSpPr>
            <p:cNvPr id="10" name="îṩļîde"/>
            <p:cNvSpPr txBox="1"/>
            <p:nvPr>
              <p:custDataLst>
                <p:tags r:id="rId7"/>
              </p:custDataLst>
            </p:nvPr>
          </p:nvSpPr>
          <p:spPr>
            <a:xfrm>
              <a:off x="6263640" y="413308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Verify no external requests; local and sample data only</a:t>
              </a:r>
              <a:endParaRPr lang="zh-CN" altLang="en-US" sz="1200" dirty="0"/>
            </a:p>
          </p:txBody>
        </p:sp>
        <p:cxnSp>
          <p:nvCxnSpPr>
            <p:cNvPr id="11" name="ïṧlíḑê"/>
            <p:cNvCxnSpPr/>
            <p:nvPr/>
          </p:nvCxnSpPr>
          <p:spPr>
            <a:xfrm>
              <a:off x="6135624" y="459028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beve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îs1îḓè"/>
            <p:cNvSpPr txBox="1"/>
            <p:nvPr>
              <p:custDataLst>
                <p:tags r:id="rId8"/>
              </p:custDataLst>
            </p:nvPr>
          </p:nvSpPr>
          <p:spPr>
            <a:xfrm>
              <a:off x="6263640" y="459028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Scope acceptance</a:t>
              </a:r>
              <a:endParaRPr lang="zh-CN" altLang="en-US" sz="1600" b="1" dirty="0"/>
            </a:p>
          </p:txBody>
        </p:sp>
        <p:sp>
          <p:nvSpPr>
            <p:cNvPr id="13" name="ïś1ïḋè"/>
            <p:cNvSpPr txBox="1"/>
            <p:nvPr>
              <p:custDataLst>
                <p:tags r:id="rId9"/>
              </p:custDataLst>
            </p:nvPr>
          </p:nvSpPr>
          <p:spPr>
            <a:xfrm>
              <a:off x="6263640" y="495604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Check the feature list item by item: 3 stories + 1 flow</a:t>
              </a:r>
              <a:endParaRPr lang="zh-CN" altLang="en-US" sz="1200" dirty="0"/>
            </a:p>
          </p:txBody>
        </p:sp>
        <p:sp>
          <p:nvSpPr>
            <p:cNvPr id="15" name="ïṧḷïḑê"/>
            <p:cNvSpPr txBox="1"/>
            <p:nvPr>
              <p:custDataLst>
                <p:tags r:id="rId10"/>
              </p:custDataLst>
            </p:nvPr>
          </p:nvSpPr>
          <p:spPr>
            <a:xfrm>
              <a:off x="6263640" y="54132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End-to-end abnormal cases</a:t>
              </a:r>
              <a:endParaRPr lang="zh-CN" altLang="en-US" sz="1600" b="1" dirty="0"/>
            </a:p>
          </p:txBody>
        </p:sp>
        <p:sp>
          <p:nvSpPr>
            <p:cNvPr id="16" name="ïş1íďè"/>
            <p:cNvSpPr txBox="1"/>
            <p:nvPr>
              <p:custDataLst>
                <p:tags r:id="rId11"/>
              </p:custDataLst>
            </p:nvPr>
          </p:nvSpPr>
          <p:spPr>
            <a:xfrm>
              <a:off x="6263640" y="577900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Duplicate imports, illegal amounts, missing columns</a:t>
              </a:r>
              <a:endParaRPr lang="zh-CN" altLang="en-US" sz="1200" dirty="0"/>
            </a:p>
          </p:txBody>
        </p:sp>
        <p:sp>
          <p:nvSpPr>
            <p:cNvPr id="27" name="íŝ1ïḋe"/>
            <p:cNvSpPr txBox="1"/>
            <p:nvPr/>
          </p:nvSpPr>
          <p:spPr>
            <a:xfrm>
              <a:off x="660400" y="1156685"/>
              <a:ext cx="4000501" cy="173356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Every mitigation pairs with a measurable check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iṩ1îḋê"/>
            <p:cNvSpPr txBox="1"/>
            <p:nvPr>
              <p:custDataLst>
                <p:tags r:id="rId12"/>
              </p:custDataLst>
            </p:nvPr>
          </p:nvSpPr>
          <p:spPr>
            <a:xfrm>
              <a:off x="6263640" y="212140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Grounding audit on 20 questions</a:t>
              </a:r>
              <a:endParaRPr lang="zh-CN" altLang="en-US" sz="1600" b="1" dirty="0"/>
            </a:p>
          </p:txBody>
        </p:sp>
        <p:sp>
          <p:nvSpPr>
            <p:cNvPr id="17" name="ïṡľïdé"/>
            <p:cNvSpPr txBox="1"/>
            <p:nvPr>
              <p:custDataLst>
                <p:tags r:id="rId13"/>
              </p:custDataLst>
            </p:nvPr>
          </p:nvSpPr>
          <p:spPr>
            <a:xfrm>
              <a:off x="6263640" y="248716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Each answer must cite transaction ID, date and amount</a:t>
              </a:r>
              <a:endParaRPr lang="zh-CN" altLang="en-US" sz="1200" dirty="0"/>
            </a:p>
          </p:txBody>
        </p: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Test &amp; Validation Plan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660400" y="1019175"/>
            <a:ext cx="10858500" cy="4140755"/>
            <a:chOff x="660400" y="1019175"/>
            <a:chExt cx="10858500" cy="4140755"/>
          </a:xfrm>
        </p:grpSpPr>
        <p:grpSp>
          <p:nvGrpSpPr>
            <p:cNvPr id="16" name="组合 15"/>
            <p:cNvGrpSpPr/>
            <p:nvPr/>
          </p:nvGrpSpPr>
          <p:grpSpPr>
            <a:xfrm>
              <a:off x="1476286" y="4274175"/>
              <a:ext cx="2620142" cy="885755"/>
              <a:chOff x="1828033" y="3283575"/>
              <a:chExt cx="2620142" cy="885755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828033" y="3362325"/>
                <a:ext cx="577572" cy="577570"/>
                <a:chOff x="3866383" y="1968240"/>
                <a:chExt cx="444222" cy="444220"/>
              </a:xfrm>
            </p:grpSpPr>
            <p:sp>
              <p:nvSpPr>
                <p:cNvPr id="5" name="椭圆 4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3866383" y="1968240"/>
                  <a:ext cx="444222" cy="444220"/>
                </a:xfrm>
                <a:prstGeom prst="ellipse">
                  <a:avLst/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1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" name="任意多边形 5"/>
                <p:cNvSpPr/>
                <p:nvPr>
                  <p:custDataLst>
                    <p:tags r:id="rId3"/>
                  </p:custDataLst>
                </p:nvPr>
              </p:nvSpPr>
              <p:spPr bwMode="auto">
                <a:xfrm>
                  <a:off x="3985714" y="2113265"/>
                  <a:ext cx="205561" cy="15417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2447310" y="3283575"/>
                <a:ext cx="2000865" cy="885755"/>
                <a:chOff x="2447310" y="3466444"/>
                <a:chExt cx="2000865" cy="885755"/>
              </a:xfrm>
            </p:grpSpPr>
            <p:sp>
              <p:nvSpPr>
                <p:cNvPr id="13" name="文本框 12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2447310" y="3466444"/>
                  <a:ext cx="2000864" cy="369332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A · Frontend &amp; UX</a:t>
                  </a:r>
                  <a:endParaRPr lang="zh-CN" altLang="en-US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14" name="文本框 13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2447310" y="3835776"/>
                  <a:ext cx="2000865" cy="5164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lang="zh-CN" altLang="en-US" sz="1200" dirty="0"/>
                    <a:t>Streamlit app: import, charts, Q&amp;A, alert views</a:t>
                  </a:r>
                  <a:endParaRPr lang="zh-CN" altLang="en-US" sz="1200" dirty="0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4779579" y="4352925"/>
              <a:ext cx="577572" cy="577570"/>
              <a:chOff x="4669386" y="1968240"/>
              <a:chExt cx="444222" cy="444220"/>
            </a:xfrm>
          </p:grpSpPr>
          <p:sp>
            <p:nvSpPr>
              <p:cNvPr id="8" name="椭圆 7"/>
              <p:cNvSpPr/>
              <p:nvPr>
                <p:custDataLst>
                  <p:tags r:id="rId6"/>
                </p:custDataLst>
              </p:nvPr>
            </p:nvSpPr>
            <p:spPr>
              <a:xfrm>
                <a:off x="4669386" y="1968240"/>
                <a:ext cx="444222" cy="444220"/>
              </a:xfrm>
              <a:prstGeom prst="ellipse">
                <a:avLst/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任意多边形 8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4788717" y="2104784"/>
                <a:ext cx="205561" cy="171132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5398855" y="4274175"/>
              <a:ext cx="2000866" cy="885755"/>
              <a:chOff x="2447309" y="3466444"/>
              <a:chExt cx="2000866" cy="885755"/>
            </a:xfrm>
          </p:grpSpPr>
          <p:sp>
            <p:nvSpPr>
              <p:cNvPr id="20" name="文本框 1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447309" y="3466444"/>
                <a:ext cx="2000863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 · Backend &amp; Data</a:t>
                </a:r>
                <a:endPara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1" name="文本框 2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447310" y="3835776"/>
                <a:ext cx="2000865" cy="516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3765">
                  <a:lnSpc>
                    <a:spcPct val="120000"/>
                  </a:lnSpc>
                  <a:buSzPct val="25000"/>
                  <a:defRPr/>
                </a:pPr>
                <a:r>
                  <a:rPr lang="zh-CN" altLang="en-US" sz="1200" dirty="0"/>
                  <a:t>CSV/Excel parsing, dedup, SQLite storage</a:t>
                </a:r>
                <a:endParaRPr lang="zh-CN" altLang="en-US" sz="1200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8082872" y="4274175"/>
              <a:ext cx="2620142" cy="885755"/>
              <a:chOff x="8434619" y="3283575"/>
              <a:chExt cx="2620142" cy="885755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8434619" y="3362325"/>
                <a:ext cx="577572" cy="577570"/>
                <a:chOff x="5472389" y="1968240"/>
                <a:chExt cx="444222" cy="444220"/>
              </a:xfrm>
            </p:grpSpPr>
            <p:sp>
              <p:nvSpPr>
                <p:cNvPr id="11" name="椭圆 10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5472389" y="1968240"/>
                  <a:ext cx="444222" cy="444220"/>
                </a:xfrm>
                <a:prstGeom prst="ellipse">
                  <a:avLst/>
                </a:prstGeom>
                <a:solidFill>
                  <a:schemeClr val="accent3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3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任意多边形 11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5591719" y="2096747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9053895" y="3283575"/>
                <a:ext cx="2000866" cy="885755"/>
                <a:chOff x="2447309" y="3466444"/>
                <a:chExt cx="2000866" cy="885755"/>
              </a:xfrm>
            </p:grpSpPr>
            <p:sp>
              <p:nvSpPr>
                <p:cNvPr id="27" name="文本框 26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2447309" y="3466444"/>
                  <a:ext cx="2000863" cy="369332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 · AI/Tests/Docs</a:t>
                  </a:r>
                  <a:endParaRPr lang="zh-CN" altLang="en-US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8" name="文本框 27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2447310" y="3835776"/>
                  <a:ext cx="2000865" cy="5164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lang="zh-CN" altLang="en-US" sz="1200" dirty="0"/>
                    <a:t>LLM integration; runs the test plan, owns docs</a:t>
                  </a:r>
                  <a:endParaRPr lang="zh-CN" altLang="en-US" sz="1200" dirty="0"/>
                </a:p>
              </p:txBody>
            </p:sp>
          </p:grpSp>
        </p:grpSp>
        <p:grpSp>
          <p:nvGrpSpPr>
            <p:cNvPr id="2" name="组合 1"/>
            <p:cNvGrpSpPr/>
            <p:nvPr/>
          </p:nvGrpSpPr>
          <p:grpSpPr>
            <a:xfrm>
              <a:off x="660400" y="1019175"/>
              <a:ext cx="10858500" cy="1750062"/>
              <a:chOff x="660400" y="1019175"/>
              <a:chExt cx="10858500" cy="1750062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660400" y="1019175"/>
                <a:ext cx="108585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Three members, one shared pipeline</a:t>
                </a:r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660400" y="2474413"/>
                <a:ext cx="10858499" cy="2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Each member owns one layer: interface, data, intelligence</a:t>
                </a:r>
                <a:endParaRPr lang="zh-CN" altLang="en-US" sz="1200" dirty="0"/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>
              <a:off x="5637936" y="2233640"/>
              <a:ext cx="903429" cy="0"/>
            </a:xfrm>
            <a:prstGeom prst="line">
              <a:avLst/>
            </a:prstGeom>
            <a:ln w="1905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itle 6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Team Roles</a:t>
            </a:r>
            <a:endParaRPr lang="en-US" dirty="0"/>
          </a:p>
        </p:txBody>
      </p:sp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"/>
          <p:cNvGrpSpPr/>
          <p:nvPr/>
        </p:nvGrpSpPr>
        <p:grpSpPr>
          <a:xfrm>
            <a:off x="747483" y="1150565"/>
            <a:ext cx="11024001" cy="4418632"/>
            <a:chOff x="747483" y="1150565"/>
            <a:chExt cx="11024001" cy="4418632"/>
          </a:xfrm>
        </p:grpSpPr>
        <p:grpSp>
          <p:nvGrpSpPr>
            <p:cNvPr id="23" name="Group 22"/>
            <p:cNvGrpSpPr/>
            <p:nvPr/>
          </p:nvGrpSpPr>
          <p:grpSpPr>
            <a:xfrm>
              <a:off x="4867200" y="1150565"/>
              <a:ext cx="2444900" cy="830997"/>
              <a:chOff x="4867200" y="1150565"/>
              <a:chExt cx="2444900" cy="830997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4867200" y="1150565"/>
                <a:ext cx="244490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spAutoFit/>
              </a:bodyPr>
              <a:lstStyle/>
              <a:p>
                <a:pPr algn="ctr">
                  <a:lnSpc>
                    <a:spcPct val="100000"/>
                  </a:lnSpc>
                  <a:buSzPct val="25000"/>
                </a:pPr>
                <a:r>
                  <a:rPr lang="en-US" altLang="zh-CN" sz="4800" b="1" dirty="0">
                    <a:solidFill>
                      <a:schemeClr val="accent1"/>
                    </a:solidFill>
                  </a:rPr>
                  <a:t>Phases</a:t>
                </a:r>
                <a:endParaRPr lang="en-US" altLang="zh-CN" sz="48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9" name="Group 26"/>
            <p:cNvGrpSpPr/>
            <p:nvPr/>
          </p:nvGrpSpPr>
          <p:grpSpPr>
            <a:xfrm>
              <a:off x="747483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43" name="Group 42"/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45" name="Rectangle 44"/>
                <p:cNvSpPr/>
                <p:nvPr/>
              </p:nvSpPr>
              <p:spPr>
                <a:xfrm>
                  <a:off x="660400" y="4334130"/>
                  <a:ext cx="185958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Proposal</a:t>
                  </a:r>
                  <a:endParaRPr kumimoji="1" lang="zh-CN" altLang="en-US" sz="1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45"/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Scope, design &amp; the risk register</a:t>
                  </a:r>
                  <a:endParaRPr kumimoji="1"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4" name="Rectangle 43"/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01</a:t>
                </a:r>
                <a:endParaRPr kumimoji="1" lang="en-US" altLang="zh-CN" sz="5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30" name="Group 27"/>
            <p:cNvGrpSpPr/>
            <p:nvPr/>
          </p:nvGrpSpPr>
          <p:grpSpPr>
            <a:xfrm>
              <a:off x="2906583" y="3298225"/>
              <a:ext cx="2387601" cy="1758839"/>
              <a:chOff x="3513085" y="3246702"/>
              <a:chExt cx="2387601" cy="1758839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3513085" y="4182569"/>
                <a:ext cx="2387601" cy="822972"/>
                <a:chOff x="660400" y="4334130"/>
                <a:chExt cx="2387601" cy="822972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660400" y="4334130"/>
                  <a:ext cx="185958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accent1"/>
                      </a:solidFill>
                    </a:rPr>
                    <a:t>Build 1</a:t>
                  </a:r>
                  <a:endParaRPr kumimoji="1" lang="zh-CN" altLang="en-US" sz="16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Data import + auto-classification</a:t>
                  </a:r>
                  <a:endParaRPr kumimoji="1"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0" name="Rectangle 39"/>
              <p:cNvSpPr/>
              <p:nvPr/>
            </p:nvSpPr>
            <p:spPr>
              <a:xfrm>
                <a:off x="3513085" y="3246702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</a:rPr>
                  <a:t>02</a:t>
                </a:r>
                <a:endParaRPr kumimoji="1" lang="en-US" altLang="zh-CN" sz="54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31" name="Group 28"/>
            <p:cNvGrpSpPr/>
            <p:nvPr/>
          </p:nvGrpSpPr>
          <p:grpSpPr>
            <a:xfrm>
              <a:off x="5065682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660400" y="4334130"/>
                  <a:ext cx="185958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Build 2</a:t>
                  </a:r>
                  <a:endParaRPr kumimoji="1" lang="zh-CN" altLang="en-US" sz="1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Spend overview + goal planning</a:t>
                  </a:r>
                  <a:endParaRPr kumimoji="1"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6" name="Rectangle 35"/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03</a:t>
                </a:r>
                <a:endParaRPr kumimoji="1" lang="en-US" altLang="zh-CN" sz="5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33" name="Group 29"/>
            <p:cNvGrpSpPr/>
            <p:nvPr/>
          </p:nvGrpSpPr>
          <p:grpSpPr>
            <a:xfrm>
              <a:off x="7224782" y="3298225"/>
              <a:ext cx="2387601" cy="1980438"/>
              <a:chOff x="3513085" y="3246702"/>
              <a:chExt cx="2387601" cy="1980438"/>
            </a:xfrm>
          </p:grpSpPr>
          <p:grpSp>
            <p:nvGrpSpPr>
              <p:cNvPr id="34" name="Group 30"/>
              <p:cNvGrpSpPr/>
              <p:nvPr/>
            </p:nvGrpSpPr>
            <p:grpSpPr>
              <a:xfrm>
                <a:off x="3513085" y="4182569"/>
                <a:ext cx="2387601" cy="1044571"/>
                <a:chOff x="660400" y="4334130"/>
                <a:chExt cx="2387601" cy="1044571"/>
              </a:xfrm>
            </p:grpSpPr>
            <p:sp>
              <p:nvSpPr>
                <p:cNvPr id="47" name="Rectangle 32"/>
                <p:cNvSpPr/>
                <p:nvPr/>
              </p:nvSpPr>
              <p:spPr>
                <a:xfrm>
                  <a:off x="660400" y="4334130"/>
                  <a:ext cx="2064769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accent1"/>
                      </a:solidFill>
                    </a:rPr>
                    <a:t>Build 3</a:t>
                  </a:r>
                  <a:endParaRPr kumimoji="1" lang="zh-CN" altLang="en-US" sz="16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8" name="Rectangle 33"/>
                <p:cNvSpPr/>
                <p:nvPr/>
              </p:nvSpPr>
              <p:spPr>
                <a:xfrm>
                  <a:off x="660401" y="4736501"/>
                  <a:ext cx="2387600" cy="64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Grounded Q&amp;A + budget alerts</a:t>
                  </a:r>
                  <a:endParaRPr kumimoji="1"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9" name="Rectangle 31"/>
              <p:cNvSpPr/>
              <p:nvPr/>
            </p:nvSpPr>
            <p:spPr>
              <a:xfrm>
                <a:off x="3513085" y="3246702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</a:rPr>
                  <a:t>04</a:t>
                </a:r>
                <a:endParaRPr kumimoji="1" lang="en-US" altLang="zh-CN" sz="54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50" name="Group 46"/>
            <p:cNvGrpSpPr/>
            <p:nvPr/>
          </p:nvGrpSpPr>
          <p:grpSpPr>
            <a:xfrm>
              <a:off x="9383882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51" name="Group 47"/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52" name="Rectangle 49"/>
                <p:cNvSpPr/>
                <p:nvPr/>
              </p:nvSpPr>
              <p:spPr>
                <a:xfrm>
                  <a:off x="660400" y="4334130"/>
                  <a:ext cx="2269953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Final delivery</a:t>
                  </a:r>
                  <a:endParaRPr kumimoji="1" lang="zh-CN" altLang="en-US" sz="1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Rectangle 50"/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Report, slides, demo video, repository</a:t>
                  </a:r>
                  <a:endParaRPr kumimoji="1"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4" name="Rectangle 48"/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05</a:t>
                </a:r>
                <a:endParaRPr kumimoji="1" lang="en-US" altLang="zh-CN" sz="5400" b="1" dirty="0">
                  <a:solidFill>
                    <a:schemeClr val="tx2"/>
                  </a:solidFill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OFFICEPLUS.TAG" val="43779941-ebb9-4272-ab0a-451395e9a0c0"/>
  <p:tag name="OFFICEPLUS.OUTLINESECTION" val="5609019"/>
</p:tagLst>
</file>

<file path=ppt/tags/tag2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3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4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5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6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7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8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9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0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1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2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3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4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5.xml><?xml version="1.0" encoding="utf-8"?>
<p:tagLst xmlns:p="http://schemas.openxmlformats.org/presentationml/2006/main">
  <p:tag name="OFFICEPLUS.TEMPLATE" val="36b2ffea-632e-4918-a2f2-dde3d9a84009.pptx"/>
  <p:tag name="OFFICEPLUS.TAG" val="9e4641ec-8dc6-4050-900b-dadf5fdb9e4c"/>
  <p:tag name="OFFICEPLUS.OUTLINECONTENT" val="18799152"/>
</p:tagLst>
</file>

<file path=ppt/tags/tag16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7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8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19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20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21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22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23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24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25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26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27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28.xml><?xml version="1.0" encoding="utf-8"?>
<p:tagLst xmlns:p="http://schemas.openxmlformats.org/presentationml/2006/main">
  <p:tag name="KSO_WM_DIAGRAM_VIRTUALLY_FRAME" val="{&quot;height&quot;:394.2975590551181,&quot;left&quot;:52,&quot;top&quot;:91.0775590551181,&quot;width&quot;:908}"/>
</p:tagLst>
</file>

<file path=ppt/tags/tag29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30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31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32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33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34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35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36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37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38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39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40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41.xml><?xml version="1.0" encoding="utf-8"?>
<p:tagLst xmlns:p="http://schemas.openxmlformats.org/presentationml/2006/main">
  <p:tag name="KSO_WM_DIAGRAM_VIRTUALLY_FRAME" val="{&quot;height&quot;:326.0437007874016,&quot;left&quot;:52,&quot;top&quot;:80.25,&quot;width&quot;:855}"/>
</p:tagLst>
</file>

<file path=ppt/tags/tag42.xml><?xml version="1.0" encoding="utf-8"?>
<p:tagLst xmlns:p="http://schemas.openxmlformats.org/presentationml/2006/main">
  <p:tag name="OFFICEPLUS.TEMPLATE" val="282528be-c9d8-41b5-a4ac-689aeb431483.pptx"/>
  <p:tag name="OFFICEPLUS.TAG" val="9e4641ec-8dc6-4050-900b-dadf5fdb9e4c"/>
  <p:tag name="OFFICEPLUS.OUTLINECONTENT" val="18799131"/>
</p:tagLst>
</file>

<file path=ppt/tags/tag43.xml><?xml version="1.0" encoding="utf-8"?>
<p:tagLst xmlns:p="http://schemas.openxmlformats.org/presentationml/2006/main">
  <p:tag name="OFFICEPLUS.TEMPLATE" val="282528be-c9d8-41b5-a4ac-689aeb431483.pptx"/>
  <p:tag name="OFFICEPLUS.TAG" val="9e4641ec-8dc6-4050-900b-dadf5fdb9e4c"/>
  <p:tag name="OFFICEPLUS.OUTLINECONTENT" val="18799131"/>
</p:tagLst>
</file>

<file path=ppt/tags/tag44.xml><?xml version="1.0" encoding="utf-8"?>
<p:tagLst xmlns:p="http://schemas.openxmlformats.org/presentationml/2006/main">
  <p:tag name="OFFICEPLUS.IMAGE" val="New_Batches_1221_Outline/20231221/images_object_7001_8000/8355b745-2dc2-403f-907b-f408b61fc907-4.source.default.zh-Hans.jpg"/>
  <p:tag name="OFFICEPLUS.THEME" val="New_Batches_1221_Outline/20231221/images_object_7001_8000/8355b745-2dc2-403f-907b-f408b61fc907-4.source.default.zh-Hans-9.pptx"/>
  <p:tag name="OFFICEPLUS.OUTLINE" val="600515"/>
  <p:tag name="OFFICEPLUS.OUTLINEEXTERNAL" val="4719a140-5afc-ee21-c499-ec87812e8c52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4AA6"/>
      </a:accent1>
      <a:accent2>
        <a:srgbClr val="4BA7FF"/>
      </a:accent2>
      <a:accent3>
        <a:srgbClr val="1487FF"/>
      </a:accent3>
      <a:accent4>
        <a:srgbClr val="75C9FF"/>
      </a:accent4>
      <a:accent5>
        <a:srgbClr val="0266DE"/>
      </a:accent5>
      <a:accent6>
        <a:srgbClr val="003071"/>
      </a:accent6>
      <a:hlink>
        <a:srgbClr val="4472C4"/>
      </a:hlink>
      <a:folHlink>
        <a:srgbClr val="BFBFBF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1676</Words>
  <Application>WPS 演示</Application>
  <PresentationFormat>Widescreen</PresentationFormat>
  <Paragraphs>110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等线</vt:lpstr>
      <vt:lpstr>Designed by OfficePLUS</vt:lpstr>
      <vt:lpstr>03.Risks, Tests &amp; Team Plan</vt:lpstr>
      <vt:lpstr>Risks &amp; Mitigations</vt:lpstr>
      <vt:lpstr>Test &amp; Validation Plan</vt:lpstr>
      <vt:lpstr>Team Roles</vt:lpstr>
      <vt:lpstr>Team Roles</vt:lpstr>
    </vt:vector>
  </TitlesOfParts>
  <Company>OfficePLUS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Risks, Tests &amp; Team Plan - AI Personal Finance Assistant</dc:title>
  <dc:creator>Project Team</dc:creator>
  <cp:lastModifiedBy>霜钟</cp:lastModifiedBy>
  <cp:revision>3</cp:revision>
  <dcterms:created xsi:type="dcterms:W3CDTF">2023-07-20T03:04:00Z</dcterms:created>
  <dcterms:modified xsi:type="dcterms:W3CDTF">2026-10-07T06:02:57Z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F99AF2C8133948BFA1B745916729F853_12</vt:lpwstr>
  </property>
  <property fmtid="{D5CDD505-2E9C-101B-9397-08002B2CF9AE}" pid="3" name="KSOProductBuildVer">
    <vt:lpwstr>2052-12.1.0.29161</vt:lpwstr>
  </property>
</Properties>
</file>