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sldIdLst>
    <p:sldId id="259" r:id="rId4"/>
    <p:sldId id="276" r:id="rId21"/>
    <p:sldId id="286" r:id="rId37"/>
    <p:sldId id="261" r:id="rId6"/>
    <p:sldId id="258" r:id="rId3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57" d="100"/>
          <a:sy n="57" d="100"/>
        </p:scale>
        <p:origin x="38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21" Type="http://schemas.openxmlformats.org/officeDocument/2006/relationships/slide" Target="slides/slide20.xml"/><Relationship Id="rId31" Type="http://schemas.openxmlformats.org/officeDocument/2006/relationships/notesMaster" Target="notesMasters/notesMaster1.xml"/><Relationship Id="rId32" Type="http://schemas.openxmlformats.org/officeDocument/2006/relationships/tags" Target="tags/tag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A9E8B-8668-4EE9-81CF-39121E276770}" type="datetimeFigureOut">
              <a:rPr lang="zh-CN" altLang="en-US" smtClean="0"/>
              <a:t>2024/1/24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8EC939D-480A-9038-100D-41E26B9FDFA9}"/>
              </a:ext>
            </a:extLst>
          </p:cNvPr>
          <p:cNvGrpSpPr/>
          <p:nvPr/>
        </p:nvGrpSpPr>
        <p:grpSpPr>
          <a:xfrm>
            <a:off x="-415225" y="-637708"/>
            <a:ext cx="12607225" cy="7495708"/>
            <a:chOff x="-415225" y="-637708"/>
            <a:chExt cx="12607225" cy="749570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B11F272-48D8-9DAB-E95A-4282A46EA1F7}"/>
                </a:ext>
              </a:extLst>
            </p:cNvPr>
            <p:cNvGrpSpPr/>
            <p:nvPr/>
          </p:nvGrpSpPr>
          <p:grpSpPr>
            <a:xfrm>
              <a:off x="-415225" y="-637708"/>
              <a:ext cx="7874000" cy="7495708"/>
              <a:chOff x="-415225" y="-637708"/>
              <a:chExt cx="7874000" cy="7495708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0DCC04DC-E348-E870-6AD9-BBF2E2FD8296}"/>
                  </a:ext>
                </a:extLst>
              </p:cNvPr>
              <p:cNvSpPr/>
              <p:nvPr/>
            </p:nvSpPr>
            <p:spPr>
              <a:xfrm>
                <a:off x="3590225" y="3765756"/>
                <a:ext cx="3868550" cy="3092244"/>
              </a:xfrm>
              <a:custGeom>
                <a:avLst/>
                <a:gdLst>
                  <a:gd name="connsiteX0" fmla="*/ 1934275 w 3868550"/>
                  <a:gd name="connsiteY0" fmla="*/ 0 h 3092244"/>
                  <a:gd name="connsiteX1" fmla="*/ 3868550 w 3868550"/>
                  <a:gd name="connsiteY1" fmla="*/ 1934275 h 3092244"/>
                  <a:gd name="connsiteX2" fmla="*/ 3538206 w 3868550"/>
                  <a:gd name="connsiteY2" fmla="*/ 3015747 h 3092244"/>
                  <a:gd name="connsiteX3" fmla="*/ 3481003 w 3868550"/>
                  <a:gd name="connsiteY3" fmla="*/ 3092244 h 3092244"/>
                  <a:gd name="connsiteX4" fmla="*/ 387548 w 3868550"/>
                  <a:gd name="connsiteY4" fmla="*/ 3092244 h 3092244"/>
                  <a:gd name="connsiteX5" fmla="*/ 330344 w 3868550"/>
                  <a:gd name="connsiteY5" fmla="*/ 3015747 h 3092244"/>
                  <a:gd name="connsiteX6" fmla="*/ 0 w 3868550"/>
                  <a:gd name="connsiteY6" fmla="*/ 1934275 h 3092244"/>
                  <a:gd name="connsiteX7" fmla="*/ 1934275 w 3868550"/>
                  <a:gd name="connsiteY7" fmla="*/ 0 h 3092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68550" h="3092244">
                    <a:moveTo>
                      <a:pt x="1934275" y="0"/>
                    </a:moveTo>
                    <a:cubicBezTo>
                      <a:pt x="3002546" y="0"/>
                      <a:pt x="3868550" y="866004"/>
                      <a:pt x="3868550" y="1934275"/>
                    </a:cubicBezTo>
                    <a:cubicBezTo>
                      <a:pt x="3868550" y="2334877"/>
                      <a:pt x="3746768" y="2707035"/>
                      <a:pt x="3538206" y="3015747"/>
                    </a:cubicBezTo>
                    <a:lnTo>
                      <a:pt x="3481003" y="3092244"/>
                    </a:lnTo>
                    <a:lnTo>
                      <a:pt x="387548" y="3092244"/>
                    </a:lnTo>
                    <a:lnTo>
                      <a:pt x="330344" y="3015747"/>
                    </a:lnTo>
                    <a:cubicBezTo>
                      <a:pt x="121782" y="2707035"/>
                      <a:pt x="0" y="2334877"/>
                      <a:pt x="0" y="1934275"/>
                    </a:cubicBezTo>
                    <a:cubicBezTo>
                      <a:pt x="0" y="866004"/>
                      <a:pt x="866005" y="0"/>
                      <a:pt x="1934275" y="0"/>
                    </a:cubicBez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effectLst>
                <a:softEdge rad="736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8340C81-2A84-E7A8-C173-2F621B3F79A9}"/>
                  </a:ext>
                </a:extLst>
              </p:cNvPr>
              <p:cNvSpPr/>
              <p:nvPr/>
            </p:nvSpPr>
            <p:spPr>
              <a:xfrm>
                <a:off x="-415225" y="-637708"/>
                <a:ext cx="5203011" cy="5965958"/>
              </a:xfrm>
              <a:custGeom>
                <a:avLst/>
                <a:gdLst>
                  <a:gd name="connsiteX0" fmla="*/ 0 w 4476750"/>
                  <a:gd name="connsiteY0" fmla="*/ 0 h 5133201"/>
                  <a:gd name="connsiteX1" fmla="*/ 4130562 w 4476750"/>
                  <a:gd name="connsiteY1" fmla="*/ 0 h 5133201"/>
                  <a:gd name="connsiteX2" fmla="*/ 4193809 w 4476750"/>
                  <a:gd name="connsiteY2" fmla="*/ 131293 h 5133201"/>
                  <a:gd name="connsiteX3" fmla="*/ 4476750 w 4476750"/>
                  <a:gd name="connsiteY3" fmla="*/ 1532751 h 5133201"/>
                  <a:gd name="connsiteX4" fmla="*/ 876300 w 4476750"/>
                  <a:gd name="connsiteY4" fmla="*/ 5133201 h 5133201"/>
                  <a:gd name="connsiteX5" fmla="*/ 150684 w 4476750"/>
                  <a:gd name="connsiteY5" fmla="*/ 5060053 h 5133201"/>
                  <a:gd name="connsiteX6" fmla="*/ 0 w 4476750"/>
                  <a:gd name="connsiteY6" fmla="*/ 5025275 h 5133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76750" h="5133201">
                    <a:moveTo>
                      <a:pt x="0" y="0"/>
                    </a:moveTo>
                    <a:lnTo>
                      <a:pt x="4130562" y="0"/>
                    </a:lnTo>
                    <a:lnTo>
                      <a:pt x="4193809" y="131293"/>
                    </a:lnTo>
                    <a:cubicBezTo>
                      <a:pt x="4376002" y="562045"/>
                      <a:pt x="4476750" y="1035633"/>
                      <a:pt x="4476750" y="1532751"/>
                    </a:cubicBezTo>
                    <a:cubicBezTo>
                      <a:pt x="4476750" y="3521225"/>
                      <a:pt x="2864774" y="5133201"/>
                      <a:pt x="876300" y="5133201"/>
                    </a:cubicBezTo>
                    <a:cubicBezTo>
                      <a:pt x="627741" y="5133201"/>
                      <a:pt x="385065" y="5108014"/>
                      <a:pt x="150684" y="5060053"/>
                    </a:cubicBezTo>
                    <a:lnTo>
                      <a:pt x="0" y="5025275"/>
                    </a:ln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effectLst>
                <a:softEdge rad="736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226692-A647-8461-0014-1A410DF7F22C}"/>
                </a:ext>
              </a:extLst>
            </p:cNvPr>
            <p:cNvSpPr/>
            <p:nvPr/>
          </p:nvSpPr>
          <p:spPr>
            <a:xfrm>
              <a:off x="4270739" y="0"/>
              <a:ext cx="1321138" cy="660569"/>
            </a:xfrm>
            <a:custGeom>
              <a:avLst/>
              <a:gdLst>
                <a:gd name="connsiteX0" fmla="*/ 0 w 1321138"/>
                <a:gd name="connsiteY0" fmla="*/ 0 h 660569"/>
                <a:gd name="connsiteX1" fmla="*/ 330284 w 1321138"/>
                <a:gd name="connsiteY1" fmla="*/ 0 h 660569"/>
                <a:gd name="connsiteX2" fmla="*/ 660568 w 1321138"/>
                <a:gd name="connsiteY2" fmla="*/ 330284 h 660569"/>
                <a:gd name="connsiteX3" fmla="*/ 990852 w 1321138"/>
                <a:gd name="connsiteY3" fmla="*/ 0 h 660569"/>
                <a:gd name="connsiteX4" fmla="*/ 1321138 w 1321138"/>
                <a:gd name="connsiteY4" fmla="*/ 0 h 660569"/>
                <a:gd name="connsiteX5" fmla="*/ 660569 w 1321138"/>
                <a:gd name="connsiteY5" fmla="*/ 660569 h 660569"/>
                <a:gd name="connsiteX6" fmla="*/ 0 w 1321138"/>
                <a:gd name="connsiteY6" fmla="*/ 0 h 66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1138" h="660569">
                  <a:moveTo>
                    <a:pt x="0" y="0"/>
                  </a:moveTo>
                  <a:lnTo>
                    <a:pt x="330284" y="0"/>
                  </a:lnTo>
                  <a:cubicBezTo>
                    <a:pt x="330284" y="182411"/>
                    <a:pt x="478158" y="330284"/>
                    <a:pt x="660568" y="330284"/>
                  </a:cubicBezTo>
                  <a:cubicBezTo>
                    <a:pt x="842979" y="330284"/>
                    <a:pt x="990852" y="182411"/>
                    <a:pt x="990852" y="0"/>
                  </a:cubicBezTo>
                  <a:lnTo>
                    <a:pt x="1321138" y="0"/>
                  </a:lnTo>
                  <a:cubicBezTo>
                    <a:pt x="1321138" y="364822"/>
                    <a:pt x="1025391" y="660569"/>
                    <a:pt x="660569" y="660569"/>
                  </a:cubicBezTo>
                  <a:cubicBezTo>
                    <a:pt x="295748" y="660569"/>
                    <a:pt x="0" y="364822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3379152-74CB-78FF-8DA2-7113CAF1905E}"/>
                </a:ext>
              </a:extLst>
            </p:cNvPr>
            <p:cNvSpPr/>
            <p:nvPr/>
          </p:nvSpPr>
          <p:spPr>
            <a:xfrm>
              <a:off x="-1" y="5430033"/>
              <a:ext cx="1427967" cy="1427967"/>
            </a:xfrm>
            <a:custGeom>
              <a:avLst/>
              <a:gdLst>
                <a:gd name="connsiteX0" fmla="*/ 0 w 1245764"/>
                <a:gd name="connsiteY0" fmla="*/ 0 h 1245764"/>
                <a:gd name="connsiteX1" fmla="*/ 1245764 w 1245764"/>
                <a:gd name="connsiteY1" fmla="*/ 1245764 h 1245764"/>
                <a:gd name="connsiteX2" fmla="*/ 622882 w 1245764"/>
                <a:gd name="connsiteY2" fmla="*/ 1245764 h 1245764"/>
                <a:gd name="connsiteX3" fmla="*/ 0 w 1245764"/>
                <a:gd name="connsiteY3" fmla="*/ 622882 h 124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5764" h="1245764">
                  <a:moveTo>
                    <a:pt x="0" y="0"/>
                  </a:moveTo>
                  <a:cubicBezTo>
                    <a:pt x="688016" y="0"/>
                    <a:pt x="1245764" y="557748"/>
                    <a:pt x="1245764" y="1245764"/>
                  </a:cubicBezTo>
                  <a:lnTo>
                    <a:pt x="622882" y="1245764"/>
                  </a:lnTo>
                  <a:cubicBezTo>
                    <a:pt x="622882" y="901756"/>
                    <a:pt x="344008" y="622882"/>
                    <a:pt x="0" y="62288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8647371-C715-EA45-965F-81471B874A74}"/>
                </a:ext>
              </a:extLst>
            </p:cNvPr>
            <p:cNvGrpSpPr/>
            <p:nvPr/>
          </p:nvGrpSpPr>
          <p:grpSpPr>
            <a:xfrm>
              <a:off x="5657058" y="558036"/>
              <a:ext cx="6534942" cy="5741929"/>
              <a:chOff x="5657058" y="558036"/>
              <a:chExt cx="6534942" cy="5741929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F7531D0-B60F-015F-BCD6-AA80AD9BBA8C}"/>
                  </a:ext>
                </a:extLst>
              </p:cNvPr>
              <p:cNvSpPr/>
              <p:nvPr/>
            </p:nvSpPr>
            <p:spPr>
              <a:xfrm>
                <a:off x="8534400" y="1148150"/>
                <a:ext cx="3657600" cy="4561700"/>
              </a:xfrm>
              <a:prstGeom prst="rect">
                <a:avLst/>
              </a:prstGeom>
              <a:gradFill>
                <a:gsLst>
                  <a:gs pos="100000">
                    <a:schemeClr val="accent1">
                      <a:lumMod val="60000"/>
                      <a:lumOff val="40000"/>
                      <a:alpha val="50000"/>
                    </a:schemeClr>
                  </a:gs>
                  <a:gs pos="28000">
                    <a:schemeClr val="accent1">
                      <a:alpha val="70000"/>
                    </a:schemeClr>
                  </a:gs>
                </a:gsLst>
                <a:lin ang="12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kumimoji="1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C676AF7E-4213-60C0-2C8A-F614D5082740}"/>
                  </a:ext>
                </a:extLst>
              </p:cNvPr>
              <p:cNvSpPr/>
              <p:nvPr/>
            </p:nvSpPr>
            <p:spPr>
              <a:xfrm>
                <a:off x="5657058" y="558036"/>
                <a:ext cx="4075473" cy="5741929"/>
              </a:xfrm>
              <a:custGeom>
                <a:avLst/>
                <a:gdLst>
                  <a:gd name="connsiteX0" fmla="*/ 2359168 w 4075473"/>
                  <a:gd name="connsiteY0" fmla="*/ 195 h 5741929"/>
                  <a:gd name="connsiteX1" fmla="*/ 2862608 w 4075473"/>
                  <a:gd name="connsiteY1" fmla="*/ 69229 h 5741929"/>
                  <a:gd name="connsiteX2" fmla="*/ 4006245 w 4075473"/>
                  <a:gd name="connsiteY2" fmla="*/ 2167260 h 5741929"/>
                  <a:gd name="connsiteX3" fmla="*/ 3310896 w 4075473"/>
                  <a:gd name="connsiteY3" fmla="*/ 4529064 h 5741929"/>
                  <a:gd name="connsiteX4" fmla="*/ 1212866 w 4075473"/>
                  <a:gd name="connsiteY4" fmla="*/ 5672701 h 5741929"/>
                  <a:gd name="connsiteX5" fmla="*/ 69229 w 4075473"/>
                  <a:gd name="connsiteY5" fmla="*/ 3574671 h 5741929"/>
                  <a:gd name="connsiteX6" fmla="*/ 764578 w 4075473"/>
                  <a:gd name="connsiteY6" fmla="*/ 1212866 h 5741929"/>
                  <a:gd name="connsiteX7" fmla="*/ 2359168 w 4075473"/>
                  <a:gd name="connsiteY7" fmla="*/ 195 h 5741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75473" h="5741929">
                    <a:moveTo>
                      <a:pt x="2359168" y="195"/>
                    </a:moveTo>
                    <a:cubicBezTo>
                      <a:pt x="2525370" y="-2335"/>
                      <a:pt x="2694765" y="19814"/>
                      <a:pt x="2862608" y="69229"/>
                    </a:cubicBezTo>
                    <a:cubicBezTo>
                      <a:pt x="3757770" y="332777"/>
                      <a:pt x="4269794" y="1272098"/>
                      <a:pt x="4006245" y="2167260"/>
                    </a:cubicBezTo>
                    <a:lnTo>
                      <a:pt x="3310896" y="4529064"/>
                    </a:lnTo>
                    <a:cubicBezTo>
                      <a:pt x="3047348" y="5424226"/>
                      <a:pt x="2108028" y="5936250"/>
                      <a:pt x="1212866" y="5672701"/>
                    </a:cubicBezTo>
                    <a:cubicBezTo>
                      <a:pt x="317704" y="5409153"/>
                      <a:pt x="-194320" y="4469833"/>
                      <a:pt x="69229" y="3574671"/>
                    </a:cubicBezTo>
                    <a:lnTo>
                      <a:pt x="764578" y="1212866"/>
                    </a:lnTo>
                    <a:cubicBezTo>
                      <a:pt x="978711" y="485547"/>
                      <a:pt x="1638959" y="11159"/>
                      <a:pt x="2359168" y="195"/>
                    </a:cubicBezTo>
                    <a:close/>
                  </a:path>
                </a:pathLst>
              </a:custGeom>
              <a:blipFill rotWithShape="0">
                <a:blip r:embed="rId2"/>
                <a:srcRect/>
                <a:stretch>
                  <a:fillRect l="-76490" r="-70230"/>
                </a:stretch>
              </a:blipFill>
              <a:ln w="635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</p:grpSp>
      <p:sp>
        <p:nvSpPr>
          <p:cNvPr id="5" name="Title 4"/>
          <p:cNvSpPr>
            <a:spLocks noGrp="1"/>
          </p:cNvSpPr>
          <p:nvPr>
            <p:ph type="ctrTitle" hasCustomPrompt="1"/>
          </p:nvPr>
        </p:nvSpPr>
        <p:spPr>
          <a:xfrm>
            <a:off x="660399" y="1298276"/>
            <a:ext cx="5203011" cy="2183494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sz="quarter" idx="1" hasCustomPrompt="1"/>
          </p:nvPr>
        </p:nvSpPr>
        <p:spPr>
          <a:xfrm>
            <a:off x="660399" y="3676243"/>
            <a:ext cx="5203011" cy="76240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US" sz="20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399" y="5113943"/>
            <a:ext cx="1701801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399" y="5417763"/>
            <a:ext cx="1701801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  <p:extLst>
      <p:ext uri="{BB962C8B-B14F-4D97-AF65-F5344CB8AC3E}">
        <p14:creationId xmlns:p14="http://schemas.microsoft.com/office/powerpoint/2010/main" val="29191745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D10539A-C1C4-6938-E08F-ABBF8809B51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27E2AD-3652-ED88-F70A-AB4CB38FE0A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b="-79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lvl="0" algn="ctr"/>
              <a:endParaRPr lang="zh-CN" alt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C21FF61-D406-0CC5-1220-B0D3CCB8BCF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60400" y="1092200"/>
            <a:ext cx="10858500" cy="5041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  <a:t>2024/1/24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8818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EE4B864-6135-F141-9DE4-85C61C7C83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0">
            <a:blip r:embed="rId2"/>
            <a:srcRect/>
            <a:stretch>
              <a:fillRect b="-79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anchor="ctr">
            <a:normAutofit/>
          </a:bodyPr>
          <a:lstStyle/>
          <a:p>
            <a:pPr lvl="0" algn="ctr"/>
            <a:endParaRPr lang="zh-CN" altLang="en-US"/>
          </a:p>
        </p:txBody>
      </p:sp>
      <p:sp>
        <p:nvSpPr>
          <p:cNvPr id="8" name="Rectangle: Rounded Corners 7"/>
          <p:cNvSpPr/>
          <p:nvPr/>
        </p:nvSpPr>
        <p:spPr>
          <a:xfrm>
            <a:off x="392877" y="491163"/>
            <a:ext cx="11406244" cy="5875674"/>
          </a:xfrm>
          <a:prstGeom prst="roundRect">
            <a:avLst>
              <a:gd name="adj" fmla="val 18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660399" y="1500188"/>
            <a:ext cx="2836800" cy="914400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algn="r">
              <a:lnSpc>
                <a:spcPct val="100000"/>
              </a:lnSpc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 hasCustomPrompt="1"/>
          </p:nvPr>
        </p:nvSpPr>
        <p:spPr>
          <a:xfrm>
            <a:off x="3746500" y="1500187"/>
            <a:ext cx="7772400" cy="463320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2024/1/24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 dirty="0"/>
              <a:t>OfficePLUS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grpSp>
        <p:nvGrpSpPr>
          <p:cNvPr id="13" name="Group 12"/>
          <p:cNvGrpSpPr/>
          <p:nvPr/>
        </p:nvGrpSpPr>
        <p:grpSpPr>
          <a:xfrm>
            <a:off x="2626456" y="1500188"/>
            <a:ext cx="994563" cy="4634686"/>
            <a:chOff x="2626456" y="1500188"/>
            <a:chExt cx="994563" cy="4634686"/>
          </a:xfrm>
        </p:grpSpPr>
        <p:cxnSp>
          <p:nvCxnSpPr>
            <p:cNvPr id="14" name="Straight Connector 13"/>
            <p:cNvCxnSpPr>
              <a:cxnSpLocks/>
            </p:cNvCxnSpPr>
            <p:nvPr/>
          </p:nvCxnSpPr>
          <p:spPr>
            <a:xfrm>
              <a:off x="3621019" y="1500188"/>
              <a:ext cx="0" cy="4633913"/>
            </a:xfrm>
            <a:prstGeom prst="line">
              <a:avLst/>
            </a:prstGeom>
            <a:solidFill>
              <a:srgbClr val="FFCC00"/>
            </a:solidFill>
            <a:ln w="3175" cap="flat" cmpd="sng" algn="ctr">
              <a:solidFill>
                <a:schemeClr val="tx1">
                  <a:alpha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" name="Freeform: Shape 14"/>
            <p:cNvSpPr>
              <a:spLocks noChangeAspect="1"/>
            </p:cNvSpPr>
            <p:nvPr/>
          </p:nvSpPr>
          <p:spPr bwMode="auto">
            <a:xfrm>
              <a:off x="2626456" y="5219207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chemeClr val="tx1">
                <a:alpha val="1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8490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57A3974-6F0A-E2C9-B8EE-431E6C8E4F0A}"/>
              </a:ext>
            </a:extLst>
          </p:cNvPr>
          <p:cNvGrpSpPr/>
          <p:nvPr/>
        </p:nvGrpSpPr>
        <p:grpSpPr>
          <a:xfrm flipH="1">
            <a:off x="0" y="-637708"/>
            <a:ext cx="12607225" cy="7495708"/>
            <a:chOff x="-415225" y="-637708"/>
            <a:chExt cx="12607225" cy="749570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031C57D-DBDC-AD07-C0D0-4037003EA217}"/>
                </a:ext>
              </a:extLst>
            </p:cNvPr>
            <p:cNvGrpSpPr/>
            <p:nvPr/>
          </p:nvGrpSpPr>
          <p:grpSpPr>
            <a:xfrm>
              <a:off x="-415225" y="-637708"/>
              <a:ext cx="7874000" cy="7495708"/>
              <a:chOff x="-415225" y="-637708"/>
              <a:chExt cx="7874000" cy="749570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0F18945-5180-4CD0-F1A2-F55AAE836124}"/>
                  </a:ext>
                </a:extLst>
              </p:cNvPr>
              <p:cNvSpPr/>
              <p:nvPr/>
            </p:nvSpPr>
            <p:spPr>
              <a:xfrm>
                <a:off x="3590225" y="3765756"/>
                <a:ext cx="3868550" cy="3092244"/>
              </a:xfrm>
              <a:custGeom>
                <a:avLst/>
                <a:gdLst>
                  <a:gd name="connsiteX0" fmla="*/ 1934275 w 3868550"/>
                  <a:gd name="connsiteY0" fmla="*/ 0 h 3092244"/>
                  <a:gd name="connsiteX1" fmla="*/ 3868550 w 3868550"/>
                  <a:gd name="connsiteY1" fmla="*/ 1934275 h 3092244"/>
                  <a:gd name="connsiteX2" fmla="*/ 3538206 w 3868550"/>
                  <a:gd name="connsiteY2" fmla="*/ 3015747 h 3092244"/>
                  <a:gd name="connsiteX3" fmla="*/ 3481003 w 3868550"/>
                  <a:gd name="connsiteY3" fmla="*/ 3092244 h 3092244"/>
                  <a:gd name="connsiteX4" fmla="*/ 387548 w 3868550"/>
                  <a:gd name="connsiteY4" fmla="*/ 3092244 h 3092244"/>
                  <a:gd name="connsiteX5" fmla="*/ 330344 w 3868550"/>
                  <a:gd name="connsiteY5" fmla="*/ 3015747 h 3092244"/>
                  <a:gd name="connsiteX6" fmla="*/ 0 w 3868550"/>
                  <a:gd name="connsiteY6" fmla="*/ 1934275 h 3092244"/>
                  <a:gd name="connsiteX7" fmla="*/ 1934275 w 3868550"/>
                  <a:gd name="connsiteY7" fmla="*/ 0 h 3092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68550" h="3092244">
                    <a:moveTo>
                      <a:pt x="1934275" y="0"/>
                    </a:moveTo>
                    <a:cubicBezTo>
                      <a:pt x="3002546" y="0"/>
                      <a:pt x="3868550" y="866004"/>
                      <a:pt x="3868550" y="1934275"/>
                    </a:cubicBezTo>
                    <a:cubicBezTo>
                      <a:pt x="3868550" y="2334877"/>
                      <a:pt x="3746768" y="2707035"/>
                      <a:pt x="3538206" y="3015747"/>
                    </a:cubicBezTo>
                    <a:lnTo>
                      <a:pt x="3481003" y="3092244"/>
                    </a:lnTo>
                    <a:lnTo>
                      <a:pt x="387548" y="3092244"/>
                    </a:lnTo>
                    <a:lnTo>
                      <a:pt x="330344" y="3015747"/>
                    </a:lnTo>
                    <a:cubicBezTo>
                      <a:pt x="121782" y="2707035"/>
                      <a:pt x="0" y="2334877"/>
                      <a:pt x="0" y="1934275"/>
                    </a:cubicBezTo>
                    <a:cubicBezTo>
                      <a:pt x="0" y="866004"/>
                      <a:pt x="866005" y="0"/>
                      <a:pt x="1934275" y="0"/>
                    </a:cubicBez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effectLst>
                <a:softEdge rad="736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A61F1271-A129-5DCC-8B7F-1036F859B268}"/>
                  </a:ext>
                </a:extLst>
              </p:cNvPr>
              <p:cNvSpPr/>
              <p:nvPr/>
            </p:nvSpPr>
            <p:spPr>
              <a:xfrm>
                <a:off x="-415225" y="-637708"/>
                <a:ext cx="5203011" cy="5965958"/>
              </a:xfrm>
              <a:custGeom>
                <a:avLst/>
                <a:gdLst>
                  <a:gd name="connsiteX0" fmla="*/ 0 w 4476750"/>
                  <a:gd name="connsiteY0" fmla="*/ 0 h 5133201"/>
                  <a:gd name="connsiteX1" fmla="*/ 4130562 w 4476750"/>
                  <a:gd name="connsiteY1" fmla="*/ 0 h 5133201"/>
                  <a:gd name="connsiteX2" fmla="*/ 4193809 w 4476750"/>
                  <a:gd name="connsiteY2" fmla="*/ 131293 h 5133201"/>
                  <a:gd name="connsiteX3" fmla="*/ 4476750 w 4476750"/>
                  <a:gd name="connsiteY3" fmla="*/ 1532751 h 5133201"/>
                  <a:gd name="connsiteX4" fmla="*/ 876300 w 4476750"/>
                  <a:gd name="connsiteY4" fmla="*/ 5133201 h 5133201"/>
                  <a:gd name="connsiteX5" fmla="*/ 150684 w 4476750"/>
                  <a:gd name="connsiteY5" fmla="*/ 5060053 h 5133201"/>
                  <a:gd name="connsiteX6" fmla="*/ 0 w 4476750"/>
                  <a:gd name="connsiteY6" fmla="*/ 5025275 h 5133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76750" h="5133201">
                    <a:moveTo>
                      <a:pt x="0" y="0"/>
                    </a:moveTo>
                    <a:lnTo>
                      <a:pt x="4130562" y="0"/>
                    </a:lnTo>
                    <a:lnTo>
                      <a:pt x="4193809" y="131293"/>
                    </a:lnTo>
                    <a:cubicBezTo>
                      <a:pt x="4376002" y="562045"/>
                      <a:pt x="4476750" y="1035633"/>
                      <a:pt x="4476750" y="1532751"/>
                    </a:cubicBezTo>
                    <a:cubicBezTo>
                      <a:pt x="4476750" y="3521225"/>
                      <a:pt x="2864774" y="5133201"/>
                      <a:pt x="876300" y="5133201"/>
                    </a:cubicBezTo>
                    <a:cubicBezTo>
                      <a:pt x="627741" y="5133201"/>
                      <a:pt x="385065" y="5108014"/>
                      <a:pt x="150684" y="5060053"/>
                    </a:cubicBezTo>
                    <a:lnTo>
                      <a:pt x="0" y="5025275"/>
                    </a:ln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effectLst>
                <a:softEdge rad="736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20AEA00-1A0F-6F53-5585-226122BCE7F3}"/>
                </a:ext>
              </a:extLst>
            </p:cNvPr>
            <p:cNvSpPr/>
            <p:nvPr/>
          </p:nvSpPr>
          <p:spPr>
            <a:xfrm>
              <a:off x="4270739" y="0"/>
              <a:ext cx="1321138" cy="660569"/>
            </a:xfrm>
            <a:custGeom>
              <a:avLst/>
              <a:gdLst>
                <a:gd name="connsiteX0" fmla="*/ 0 w 1321138"/>
                <a:gd name="connsiteY0" fmla="*/ 0 h 660569"/>
                <a:gd name="connsiteX1" fmla="*/ 330284 w 1321138"/>
                <a:gd name="connsiteY1" fmla="*/ 0 h 660569"/>
                <a:gd name="connsiteX2" fmla="*/ 660568 w 1321138"/>
                <a:gd name="connsiteY2" fmla="*/ 330284 h 660569"/>
                <a:gd name="connsiteX3" fmla="*/ 990852 w 1321138"/>
                <a:gd name="connsiteY3" fmla="*/ 0 h 660569"/>
                <a:gd name="connsiteX4" fmla="*/ 1321138 w 1321138"/>
                <a:gd name="connsiteY4" fmla="*/ 0 h 660569"/>
                <a:gd name="connsiteX5" fmla="*/ 660569 w 1321138"/>
                <a:gd name="connsiteY5" fmla="*/ 660569 h 660569"/>
                <a:gd name="connsiteX6" fmla="*/ 0 w 1321138"/>
                <a:gd name="connsiteY6" fmla="*/ 0 h 66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1138" h="660569">
                  <a:moveTo>
                    <a:pt x="0" y="0"/>
                  </a:moveTo>
                  <a:lnTo>
                    <a:pt x="330284" y="0"/>
                  </a:lnTo>
                  <a:cubicBezTo>
                    <a:pt x="330284" y="182411"/>
                    <a:pt x="478158" y="330284"/>
                    <a:pt x="660568" y="330284"/>
                  </a:cubicBezTo>
                  <a:cubicBezTo>
                    <a:pt x="842979" y="330284"/>
                    <a:pt x="990852" y="182411"/>
                    <a:pt x="990852" y="0"/>
                  </a:cubicBezTo>
                  <a:lnTo>
                    <a:pt x="1321138" y="0"/>
                  </a:lnTo>
                  <a:cubicBezTo>
                    <a:pt x="1321138" y="364822"/>
                    <a:pt x="1025391" y="660569"/>
                    <a:pt x="660569" y="660569"/>
                  </a:cubicBezTo>
                  <a:cubicBezTo>
                    <a:pt x="295748" y="660569"/>
                    <a:pt x="0" y="364822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1E42933-89E0-45C9-5C69-7B1963F3953E}"/>
                </a:ext>
              </a:extLst>
            </p:cNvPr>
            <p:cNvSpPr/>
            <p:nvPr/>
          </p:nvSpPr>
          <p:spPr>
            <a:xfrm>
              <a:off x="-1" y="5430033"/>
              <a:ext cx="1427967" cy="1427967"/>
            </a:xfrm>
            <a:custGeom>
              <a:avLst/>
              <a:gdLst>
                <a:gd name="connsiteX0" fmla="*/ 0 w 1245764"/>
                <a:gd name="connsiteY0" fmla="*/ 0 h 1245764"/>
                <a:gd name="connsiteX1" fmla="*/ 1245764 w 1245764"/>
                <a:gd name="connsiteY1" fmla="*/ 1245764 h 1245764"/>
                <a:gd name="connsiteX2" fmla="*/ 622882 w 1245764"/>
                <a:gd name="connsiteY2" fmla="*/ 1245764 h 1245764"/>
                <a:gd name="connsiteX3" fmla="*/ 0 w 1245764"/>
                <a:gd name="connsiteY3" fmla="*/ 622882 h 124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5764" h="1245764">
                  <a:moveTo>
                    <a:pt x="0" y="0"/>
                  </a:moveTo>
                  <a:cubicBezTo>
                    <a:pt x="688016" y="0"/>
                    <a:pt x="1245764" y="557748"/>
                    <a:pt x="1245764" y="1245764"/>
                  </a:cubicBezTo>
                  <a:lnTo>
                    <a:pt x="622882" y="1245764"/>
                  </a:lnTo>
                  <a:cubicBezTo>
                    <a:pt x="622882" y="901756"/>
                    <a:pt x="344008" y="622882"/>
                    <a:pt x="0" y="62288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2038992-01FE-BE55-0838-90806AABAB30}"/>
                </a:ext>
              </a:extLst>
            </p:cNvPr>
            <p:cNvGrpSpPr/>
            <p:nvPr/>
          </p:nvGrpSpPr>
          <p:grpSpPr>
            <a:xfrm>
              <a:off x="5657058" y="558036"/>
              <a:ext cx="6534942" cy="5741929"/>
              <a:chOff x="5657058" y="558036"/>
              <a:chExt cx="6534942" cy="5741929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69ED6E9-D640-FBE1-EF43-6BEF32AA9A5B}"/>
                  </a:ext>
                </a:extLst>
              </p:cNvPr>
              <p:cNvSpPr/>
              <p:nvPr/>
            </p:nvSpPr>
            <p:spPr>
              <a:xfrm>
                <a:off x="8534400" y="1148150"/>
                <a:ext cx="3657600" cy="4561700"/>
              </a:xfrm>
              <a:prstGeom prst="rect">
                <a:avLst/>
              </a:prstGeom>
              <a:gradFill>
                <a:gsLst>
                  <a:gs pos="100000">
                    <a:schemeClr val="accent1">
                      <a:lumMod val="60000"/>
                      <a:lumOff val="40000"/>
                      <a:alpha val="50000"/>
                    </a:schemeClr>
                  </a:gs>
                  <a:gs pos="28000">
                    <a:schemeClr val="accent1">
                      <a:alpha val="70000"/>
                    </a:schemeClr>
                  </a:gs>
                </a:gsLst>
                <a:lin ang="12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kumimoji="1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E2C42D8D-230B-1B79-0279-B60302A5D5B5}"/>
                  </a:ext>
                </a:extLst>
              </p:cNvPr>
              <p:cNvSpPr/>
              <p:nvPr/>
            </p:nvSpPr>
            <p:spPr>
              <a:xfrm>
                <a:off x="5657058" y="558036"/>
                <a:ext cx="4075473" cy="5741929"/>
              </a:xfrm>
              <a:custGeom>
                <a:avLst/>
                <a:gdLst>
                  <a:gd name="connsiteX0" fmla="*/ 2359168 w 4075473"/>
                  <a:gd name="connsiteY0" fmla="*/ 195 h 5741929"/>
                  <a:gd name="connsiteX1" fmla="*/ 2862608 w 4075473"/>
                  <a:gd name="connsiteY1" fmla="*/ 69229 h 5741929"/>
                  <a:gd name="connsiteX2" fmla="*/ 4006245 w 4075473"/>
                  <a:gd name="connsiteY2" fmla="*/ 2167260 h 5741929"/>
                  <a:gd name="connsiteX3" fmla="*/ 3310896 w 4075473"/>
                  <a:gd name="connsiteY3" fmla="*/ 4529064 h 5741929"/>
                  <a:gd name="connsiteX4" fmla="*/ 1212866 w 4075473"/>
                  <a:gd name="connsiteY4" fmla="*/ 5672701 h 5741929"/>
                  <a:gd name="connsiteX5" fmla="*/ 69229 w 4075473"/>
                  <a:gd name="connsiteY5" fmla="*/ 3574671 h 5741929"/>
                  <a:gd name="connsiteX6" fmla="*/ 764578 w 4075473"/>
                  <a:gd name="connsiteY6" fmla="*/ 1212866 h 5741929"/>
                  <a:gd name="connsiteX7" fmla="*/ 2359168 w 4075473"/>
                  <a:gd name="connsiteY7" fmla="*/ 195 h 5741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75473" h="5741929">
                    <a:moveTo>
                      <a:pt x="2359168" y="195"/>
                    </a:moveTo>
                    <a:cubicBezTo>
                      <a:pt x="2525370" y="-2335"/>
                      <a:pt x="2694765" y="19814"/>
                      <a:pt x="2862608" y="69229"/>
                    </a:cubicBezTo>
                    <a:cubicBezTo>
                      <a:pt x="3757770" y="332777"/>
                      <a:pt x="4269794" y="1272098"/>
                      <a:pt x="4006245" y="2167260"/>
                    </a:cubicBezTo>
                    <a:lnTo>
                      <a:pt x="3310896" y="4529064"/>
                    </a:lnTo>
                    <a:cubicBezTo>
                      <a:pt x="3047348" y="5424226"/>
                      <a:pt x="2108028" y="5936250"/>
                      <a:pt x="1212866" y="5672701"/>
                    </a:cubicBezTo>
                    <a:cubicBezTo>
                      <a:pt x="317704" y="5409153"/>
                      <a:pt x="-194320" y="4469833"/>
                      <a:pt x="69229" y="3574671"/>
                    </a:cubicBezTo>
                    <a:lnTo>
                      <a:pt x="764578" y="1212866"/>
                    </a:lnTo>
                    <a:cubicBezTo>
                      <a:pt x="978711" y="485547"/>
                      <a:pt x="1638959" y="11159"/>
                      <a:pt x="2359168" y="195"/>
                    </a:cubicBezTo>
                    <a:close/>
                  </a:path>
                </a:pathLst>
              </a:custGeom>
              <a:blipFill rotWithShape="0">
                <a:blip r:embed="rId2"/>
                <a:srcRect/>
                <a:stretch>
                  <a:fillRect l="-76490" r="-70230"/>
                </a:stretch>
              </a:blipFill>
              <a:ln w="635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877050" y="2762340"/>
            <a:ext cx="4641849" cy="584775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lnSpc>
                <a:spcPct val="100000"/>
              </a:lnSpc>
              <a:defRPr sz="32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 hasCustomPrompt="1"/>
          </p:nvPr>
        </p:nvSpPr>
        <p:spPr>
          <a:xfrm>
            <a:off x="6877050" y="3358969"/>
            <a:ext cx="4641849" cy="11049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r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  <a:t>2024/1/24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178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10539A-C1C4-6938-E08F-ABBF8809B51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27E2AD-3652-ED88-F70A-AB4CB38FE0A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0">
              <a:blip r:embed="rId2"/>
              <a:srcRect/>
              <a:stretch>
                <a:fillRect b="-79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endParaRPr lang="zh-CN" alt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C21FF61-D406-0CC5-1220-B0D3CCB8BCFE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</p:grp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2A54-1ED4-49C6-8154-FC2019FF8FB3}" type="datetime1">
              <a:rPr lang="zh-CN" altLang="en-US" smtClean="0"/>
              <a:t>2024/1/24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f-ZA" altLang="zh-CN"/>
              <a:t>OfficePLUS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7171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D36A-0885-4071-9EF1-0FE4286E17CF}" type="datetime1">
              <a:rPr lang="zh-CN" altLang="en-US" smtClean="0"/>
              <a:t>2024/1/24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08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9560D7F-B57B-ADA4-72AB-6C57C8A1C6D9}"/>
              </a:ext>
            </a:extLst>
          </p:cNvPr>
          <p:cNvGrpSpPr/>
          <p:nvPr/>
        </p:nvGrpSpPr>
        <p:grpSpPr>
          <a:xfrm>
            <a:off x="-415225" y="-637708"/>
            <a:ext cx="12607225" cy="7495708"/>
            <a:chOff x="-415225" y="-637708"/>
            <a:chExt cx="12607225" cy="749570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7D0814D-CBAD-4A9F-500E-30937AC9855F}"/>
                </a:ext>
              </a:extLst>
            </p:cNvPr>
            <p:cNvGrpSpPr/>
            <p:nvPr/>
          </p:nvGrpSpPr>
          <p:grpSpPr>
            <a:xfrm>
              <a:off x="-415225" y="-637708"/>
              <a:ext cx="7874000" cy="7495708"/>
              <a:chOff x="-415225" y="-637708"/>
              <a:chExt cx="7874000" cy="7495708"/>
            </a:xfrm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227B867-60FE-F525-2F99-CCDAC9E65D9A}"/>
                  </a:ext>
                </a:extLst>
              </p:cNvPr>
              <p:cNvSpPr/>
              <p:nvPr/>
            </p:nvSpPr>
            <p:spPr>
              <a:xfrm>
                <a:off x="3590225" y="3765756"/>
                <a:ext cx="3868550" cy="3092244"/>
              </a:xfrm>
              <a:custGeom>
                <a:avLst/>
                <a:gdLst>
                  <a:gd name="connsiteX0" fmla="*/ 1934275 w 3868550"/>
                  <a:gd name="connsiteY0" fmla="*/ 0 h 3092244"/>
                  <a:gd name="connsiteX1" fmla="*/ 3868550 w 3868550"/>
                  <a:gd name="connsiteY1" fmla="*/ 1934275 h 3092244"/>
                  <a:gd name="connsiteX2" fmla="*/ 3538206 w 3868550"/>
                  <a:gd name="connsiteY2" fmla="*/ 3015747 h 3092244"/>
                  <a:gd name="connsiteX3" fmla="*/ 3481003 w 3868550"/>
                  <a:gd name="connsiteY3" fmla="*/ 3092244 h 3092244"/>
                  <a:gd name="connsiteX4" fmla="*/ 387548 w 3868550"/>
                  <a:gd name="connsiteY4" fmla="*/ 3092244 h 3092244"/>
                  <a:gd name="connsiteX5" fmla="*/ 330344 w 3868550"/>
                  <a:gd name="connsiteY5" fmla="*/ 3015747 h 3092244"/>
                  <a:gd name="connsiteX6" fmla="*/ 0 w 3868550"/>
                  <a:gd name="connsiteY6" fmla="*/ 1934275 h 3092244"/>
                  <a:gd name="connsiteX7" fmla="*/ 1934275 w 3868550"/>
                  <a:gd name="connsiteY7" fmla="*/ 0 h 3092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68550" h="3092244">
                    <a:moveTo>
                      <a:pt x="1934275" y="0"/>
                    </a:moveTo>
                    <a:cubicBezTo>
                      <a:pt x="3002546" y="0"/>
                      <a:pt x="3868550" y="866004"/>
                      <a:pt x="3868550" y="1934275"/>
                    </a:cubicBezTo>
                    <a:cubicBezTo>
                      <a:pt x="3868550" y="2334877"/>
                      <a:pt x="3746768" y="2707035"/>
                      <a:pt x="3538206" y="3015747"/>
                    </a:cubicBezTo>
                    <a:lnTo>
                      <a:pt x="3481003" y="3092244"/>
                    </a:lnTo>
                    <a:lnTo>
                      <a:pt x="387548" y="3092244"/>
                    </a:lnTo>
                    <a:lnTo>
                      <a:pt x="330344" y="3015747"/>
                    </a:lnTo>
                    <a:cubicBezTo>
                      <a:pt x="121782" y="2707035"/>
                      <a:pt x="0" y="2334877"/>
                      <a:pt x="0" y="1934275"/>
                    </a:cubicBezTo>
                    <a:cubicBezTo>
                      <a:pt x="0" y="866004"/>
                      <a:pt x="866005" y="0"/>
                      <a:pt x="1934275" y="0"/>
                    </a:cubicBez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effectLst>
                <a:softEdge rad="736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41236FF4-4BCB-CC86-1A9B-7D11BA6A1D0C}"/>
                  </a:ext>
                </a:extLst>
              </p:cNvPr>
              <p:cNvSpPr/>
              <p:nvPr/>
            </p:nvSpPr>
            <p:spPr>
              <a:xfrm>
                <a:off x="-415225" y="-637708"/>
                <a:ext cx="5203011" cy="5965958"/>
              </a:xfrm>
              <a:custGeom>
                <a:avLst/>
                <a:gdLst>
                  <a:gd name="connsiteX0" fmla="*/ 0 w 4476750"/>
                  <a:gd name="connsiteY0" fmla="*/ 0 h 5133201"/>
                  <a:gd name="connsiteX1" fmla="*/ 4130562 w 4476750"/>
                  <a:gd name="connsiteY1" fmla="*/ 0 h 5133201"/>
                  <a:gd name="connsiteX2" fmla="*/ 4193809 w 4476750"/>
                  <a:gd name="connsiteY2" fmla="*/ 131293 h 5133201"/>
                  <a:gd name="connsiteX3" fmla="*/ 4476750 w 4476750"/>
                  <a:gd name="connsiteY3" fmla="*/ 1532751 h 5133201"/>
                  <a:gd name="connsiteX4" fmla="*/ 876300 w 4476750"/>
                  <a:gd name="connsiteY4" fmla="*/ 5133201 h 5133201"/>
                  <a:gd name="connsiteX5" fmla="*/ 150684 w 4476750"/>
                  <a:gd name="connsiteY5" fmla="*/ 5060053 h 5133201"/>
                  <a:gd name="connsiteX6" fmla="*/ 0 w 4476750"/>
                  <a:gd name="connsiteY6" fmla="*/ 5025275 h 5133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476750" h="5133201">
                    <a:moveTo>
                      <a:pt x="0" y="0"/>
                    </a:moveTo>
                    <a:lnTo>
                      <a:pt x="4130562" y="0"/>
                    </a:lnTo>
                    <a:lnTo>
                      <a:pt x="4193809" y="131293"/>
                    </a:lnTo>
                    <a:cubicBezTo>
                      <a:pt x="4376002" y="562045"/>
                      <a:pt x="4476750" y="1035633"/>
                      <a:pt x="4476750" y="1532751"/>
                    </a:cubicBezTo>
                    <a:cubicBezTo>
                      <a:pt x="4476750" y="3521225"/>
                      <a:pt x="2864774" y="5133201"/>
                      <a:pt x="876300" y="5133201"/>
                    </a:cubicBezTo>
                    <a:cubicBezTo>
                      <a:pt x="627741" y="5133201"/>
                      <a:pt x="385065" y="5108014"/>
                      <a:pt x="150684" y="5060053"/>
                    </a:cubicBezTo>
                    <a:lnTo>
                      <a:pt x="0" y="5025275"/>
                    </a:lnTo>
                    <a:close/>
                  </a:path>
                </a:pathLst>
              </a:custGeom>
              <a:solidFill>
                <a:schemeClr val="accent1">
                  <a:alpha val="10000"/>
                </a:schemeClr>
              </a:solidFill>
              <a:effectLst>
                <a:softEdge rad="73660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EE5AB4D-17B6-E186-F5D4-7A7BD71117A4}"/>
                </a:ext>
              </a:extLst>
            </p:cNvPr>
            <p:cNvSpPr/>
            <p:nvPr/>
          </p:nvSpPr>
          <p:spPr>
            <a:xfrm>
              <a:off x="4270739" y="0"/>
              <a:ext cx="1321138" cy="660569"/>
            </a:xfrm>
            <a:custGeom>
              <a:avLst/>
              <a:gdLst>
                <a:gd name="connsiteX0" fmla="*/ 0 w 1321138"/>
                <a:gd name="connsiteY0" fmla="*/ 0 h 660569"/>
                <a:gd name="connsiteX1" fmla="*/ 330284 w 1321138"/>
                <a:gd name="connsiteY1" fmla="*/ 0 h 660569"/>
                <a:gd name="connsiteX2" fmla="*/ 660568 w 1321138"/>
                <a:gd name="connsiteY2" fmla="*/ 330284 h 660569"/>
                <a:gd name="connsiteX3" fmla="*/ 990852 w 1321138"/>
                <a:gd name="connsiteY3" fmla="*/ 0 h 660569"/>
                <a:gd name="connsiteX4" fmla="*/ 1321138 w 1321138"/>
                <a:gd name="connsiteY4" fmla="*/ 0 h 660569"/>
                <a:gd name="connsiteX5" fmla="*/ 660569 w 1321138"/>
                <a:gd name="connsiteY5" fmla="*/ 660569 h 660569"/>
                <a:gd name="connsiteX6" fmla="*/ 0 w 1321138"/>
                <a:gd name="connsiteY6" fmla="*/ 0 h 66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21138" h="660569">
                  <a:moveTo>
                    <a:pt x="0" y="0"/>
                  </a:moveTo>
                  <a:lnTo>
                    <a:pt x="330284" y="0"/>
                  </a:lnTo>
                  <a:cubicBezTo>
                    <a:pt x="330284" y="182411"/>
                    <a:pt x="478158" y="330284"/>
                    <a:pt x="660568" y="330284"/>
                  </a:cubicBezTo>
                  <a:cubicBezTo>
                    <a:pt x="842979" y="330284"/>
                    <a:pt x="990852" y="182411"/>
                    <a:pt x="990852" y="0"/>
                  </a:cubicBezTo>
                  <a:lnTo>
                    <a:pt x="1321138" y="0"/>
                  </a:lnTo>
                  <a:cubicBezTo>
                    <a:pt x="1321138" y="364822"/>
                    <a:pt x="1025391" y="660569"/>
                    <a:pt x="660569" y="660569"/>
                  </a:cubicBezTo>
                  <a:cubicBezTo>
                    <a:pt x="295748" y="660569"/>
                    <a:pt x="0" y="364822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C92B986-571B-71E9-27CD-C5F95BCBCCED}"/>
                </a:ext>
              </a:extLst>
            </p:cNvPr>
            <p:cNvSpPr/>
            <p:nvPr/>
          </p:nvSpPr>
          <p:spPr>
            <a:xfrm>
              <a:off x="-1" y="5430033"/>
              <a:ext cx="1427967" cy="1427967"/>
            </a:xfrm>
            <a:custGeom>
              <a:avLst/>
              <a:gdLst>
                <a:gd name="connsiteX0" fmla="*/ 0 w 1245764"/>
                <a:gd name="connsiteY0" fmla="*/ 0 h 1245764"/>
                <a:gd name="connsiteX1" fmla="*/ 1245764 w 1245764"/>
                <a:gd name="connsiteY1" fmla="*/ 1245764 h 1245764"/>
                <a:gd name="connsiteX2" fmla="*/ 622882 w 1245764"/>
                <a:gd name="connsiteY2" fmla="*/ 1245764 h 1245764"/>
                <a:gd name="connsiteX3" fmla="*/ 0 w 1245764"/>
                <a:gd name="connsiteY3" fmla="*/ 622882 h 1245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45764" h="1245764">
                  <a:moveTo>
                    <a:pt x="0" y="0"/>
                  </a:moveTo>
                  <a:cubicBezTo>
                    <a:pt x="688016" y="0"/>
                    <a:pt x="1245764" y="557748"/>
                    <a:pt x="1245764" y="1245764"/>
                  </a:cubicBezTo>
                  <a:lnTo>
                    <a:pt x="622882" y="1245764"/>
                  </a:lnTo>
                  <a:cubicBezTo>
                    <a:pt x="622882" y="901756"/>
                    <a:pt x="344008" y="622882"/>
                    <a:pt x="0" y="622882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  <a:gs pos="50000">
                  <a:schemeClr val="accent1">
                    <a:alpha val="70000"/>
                  </a:schemeClr>
                </a:gs>
              </a:gsLst>
              <a:lin ang="2700000" scaled="1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798974E-B1FD-0F05-1714-5D4060CB3B47}"/>
                </a:ext>
              </a:extLst>
            </p:cNvPr>
            <p:cNvGrpSpPr/>
            <p:nvPr/>
          </p:nvGrpSpPr>
          <p:grpSpPr>
            <a:xfrm>
              <a:off x="5657058" y="558036"/>
              <a:ext cx="6534942" cy="5741929"/>
              <a:chOff x="5657058" y="558036"/>
              <a:chExt cx="6534942" cy="5741929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3A8209B-37E7-D978-0786-BAF603DDC930}"/>
                  </a:ext>
                </a:extLst>
              </p:cNvPr>
              <p:cNvSpPr/>
              <p:nvPr/>
            </p:nvSpPr>
            <p:spPr>
              <a:xfrm>
                <a:off x="8534400" y="1148150"/>
                <a:ext cx="3657600" cy="4561700"/>
              </a:xfrm>
              <a:prstGeom prst="rect">
                <a:avLst/>
              </a:prstGeom>
              <a:gradFill>
                <a:gsLst>
                  <a:gs pos="100000">
                    <a:schemeClr val="accent1">
                      <a:lumMod val="60000"/>
                      <a:lumOff val="40000"/>
                      <a:alpha val="50000"/>
                    </a:schemeClr>
                  </a:gs>
                  <a:gs pos="28000">
                    <a:schemeClr val="accent1">
                      <a:alpha val="70000"/>
                    </a:schemeClr>
                  </a:gs>
                </a:gsLst>
                <a:lin ang="1200000" scaled="0"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kumimoji="1"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6D7433E0-DCCA-29EA-9019-0B453ECFB2E7}"/>
                  </a:ext>
                </a:extLst>
              </p:cNvPr>
              <p:cNvSpPr/>
              <p:nvPr/>
            </p:nvSpPr>
            <p:spPr>
              <a:xfrm>
                <a:off x="5657058" y="558036"/>
                <a:ext cx="4075473" cy="5741929"/>
              </a:xfrm>
              <a:custGeom>
                <a:avLst/>
                <a:gdLst>
                  <a:gd name="connsiteX0" fmla="*/ 2359168 w 4075473"/>
                  <a:gd name="connsiteY0" fmla="*/ 195 h 5741929"/>
                  <a:gd name="connsiteX1" fmla="*/ 2862608 w 4075473"/>
                  <a:gd name="connsiteY1" fmla="*/ 69229 h 5741929"/>
                  <a:gd name="connsiteX2" fmla="*/ 4006245 w 4075473"/>
                  <a:gd name="connsiteY2" fmla="*/ 2167260 h 5741929"/>
                  <a:gd name="connsiteX3" fmla="*/ 3310896 w 4075473"/>
                  <a:gd name="connsiteY3" fmla="*/ 4529064 h 5741929"/>
                  <a:gd name="connsiteX4" fmla="*/ 1212866 w 4075473"/>
                  <a:gd name="connsiteY4" fmla="*/ 5672701 h 5741929"/>
                  <a:gd name="connsiteX5" fmla="*/ 69229 w 4075473"/>
                  <a:gd name="connsiteY5" fmla="*/ 3574671 h 5741929"/>
                  <a:gd name="connsiteX6" fmla="*/ 764578 w 4075473"/>
                  <a:gd name="connsiteY6" fmla="*/ 1212866 h 5741929"/>
                  <a:gd name="connsiteX7" fmla="*/ 2359168 w 4075473"/>
                  <a:gd name="connsiteY7" fmla="*/ 195 h 5741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75473" h="5741929">
                    <a:moveTo>
                      <a:pt x="2359168" y="195"/>
                    </a:moveTo>
                    <a:cubicBezTo>
                      <a:pt x="2525370" y="-2335"/>
                      <a:pt x="2694765" y="19814"/>
                      <a:pt x="2862608" y="69229"/>
                    </a:cubicBezTo>
                    <a:cubicBezTo>
                      <a:pt x="3757770" y="332777"/>
                      <a:pt x="4269794" y="1272098"/>
                      <a:pt x="4006245" y="2167260"/>
                    </a:cubicBezTo>
                    <a:lnTo>
                      <a:pt x="3310896" y="4529064"/>
                    </a:lnTo>
                    <a:cubicBezTo>
                      <a:pt x="3047348" y="5424226"/>
                      <a:pt x="2108028" y="5936250"/>
                      <a:pt x="1212866" y="5672701"/>
                    </a:cubicBezTo>
                    <a:cubicBezTo>
                      <a:pt x="317704" y="5409153"/>
                      <a:pt x="-194320" y="4469833"/>
                      <a:pt x="69229" y="3574671"/>
                    </a:cubicBezTo>
                    <a:lnTo>
                      <a:pt x="764578" y="1212866"/>
                    </a:lnTo>
                    <a:cubicBezTo>
                      <a:pt x="978711" y="485547"/>
                      <a:pt x="1638959" y="11159"/>
                      <a:pt x="2359168" y="195"/>
                    </a:cubicBezTo>
                    <a:close/>
                  </a:path>
                </a:pathLst>
              </a:custGeom>
              <a:blipFill rotWithShape="0">
                <a:blip r:embed="rId2"/>
                <a:srcRect/>
                <a:stretch>
                  <a:fillRect l="-76490" r="-70230"/>
                </a:stretch>
              </a:blipFill>
              <a:ln w="63500" cap="flat" cmpd="sng" algn="ctr">
                <a:solidFill>
                  <a:schemeClr val="bg1"/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lvl="0" algn="ctr"/>
                <a:endParaRPr lang="zh-CN" altLang="en-US"/>
              </a:p>
            </p:txBody>
          </p:sp>
        </p:grpSp>
      </p:grp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60401" y="1089025"/>
            <a:ext cx="4931476" cy="3092244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>
              <a:lnSpc>
                <a:spcPct val="100000"/>
              </a:lnSpc>
              <a:defRPr sz="60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4900025"/>
            <a:ext cx="1698670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227916"/>
            <a:ext cx="1698670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www.officeplus.cn</a:t>
            </a:r>
          </a:p>
        </p:txBody>
      </p:sp>
    </p:spTree>
    <p:extLst>
      <p:ext uri="{BB962C8B-B14F-4D97-AF65-F5344CB8AC3E}">
        <p14:creationId xmlns:p14="http://schemas.microsoft.com/office/powerpoint/2010/main" val="1857909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AEBC5-1D0D-411D-9EE3-C6F41EFD080C}" type="datetime1">
              <a:rPr lang="zh-CN" altLang="en-US" smtClean="0"/>
              <a:t>2024/1/24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OfficePLUS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B9E57BB-D324-3B5A-C0B8-E80AD7F5E81D}"/>
              </a:ext>
            </a:extLst>
          </p:cNvPr>
          <p:cNvGrpSpPr/>
          <p:nvPr/>
        </p:nvGrpSpPr>
        <p:grpSpPr>
          <a:xfrm>
            <a:off x="747483" y="1150565"/>
            <a:ext cx="11024001" cy="4418632"/>
            <a:chOff x="747483" y="1150565"/>
            <a:chExt cx="11024001" cy="441863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2DB636B5-2BF5-C616-7542-D43CF93DCCAC}"/>
                </a:ext>
              </a:extLst>
            </p:cNvPr>
            <p:cNvGrpSpPr/>
            <p:nvPr/>
          </p:nvGrpSpPr>
          <p:grpSpPr>
            <a:xfrm>
              <a:off x="4867200" y="1150565"/>
              <a:ext cx="2444900" cy="830997"/>
              <a:chOff x="4867200" y="1150565"/>
              <a:chExt cx="2444900" cy="830997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3832FC0-C829-EE28-6F76-5A086ECCB3DE}"/>
                  </a:ext>
                </a:extLst>
              </p:cNvPr>
              <p:cNvSpPr txBox="1"/>
              <p:nvPr/>
            </p:nvSpPr>
            <p:spPr>
              <a:xfrm>
                <a:off x="4867200" y="1150565"/>
                <a:ext cx="2444900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ctr" anchorCtr="0">
                <a:spAutoFit/>
              </a:bodyPr>
              <a:lstStyle/>
              <a:p>
                <a:pPr algn="ctr">
                  <a:lnSpc>
                    <a:spcPct val="100000"/>
                  </a:lnSpc>
                  <a:buSzPct val="25000"/>
                </a:pPr>
                <a:r>
                  <a:rPr lang="en-US" altLang="zh-CN" sz="4800" b="1" dirty="0">
                    <a:solidFill>
                      <a:schemeClr val="accent1"/>
                    </a:solidFill>
                  </a:rPr>
                  <a:t>里程碑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C58426E-6455-FBCD-7D0D-4016FFFECAA5}"/>
                </a:ext>
              </a:extLst>
            </p:cNvPr>
            <p:cNvGrpSpPr/>
            <p:nvPr/>
          </p:nvGrpSpPr>
          <p:grpSpPr>
            <a:xfrm>
              <a:off x="747483" y="3767880"/>
              <a:ext cx="2387602" cy="1801317"/>
              <a:chOff x="747483" y="3771255"/>
              <a:chExt cx="2387602" cy="1801317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F9D0BAE1-6294-D1EB-8362-5992655B24BD}"/>
                  </a:ext>
                </a:extLst>
              </p:cNvPr>
              <p:cNvGrpSpPr/>
              <p:nvPr/>
            </p:nvGrpSpPr>
            <p:grpSpPr>
              <a:xfrm>
                <a:off x="747484" y="4749600"/>
                <a:ext cx="2387601" cy="822972"/>
                <a:chOff x="660400" y="4334130"/>
                <a:chExt cx="2387601" cy="822972"/>
              </a:xfrm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316BFC9B-EC3E-1DA4-440F-C91E26A7E57C}"/>
                    </a:ext>
                  </a:extLst>
                </p:cNvPr>
                <p:cNvSpPr/>
                <p:nvPr/>
              </p:nvSpPr>
              <p:spPr>
                <a:xfrm>
                  <a:off x="660400" y="4334130"/>
                  <a:ext cx="1859584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提案</a:t>
                  </a: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AD42D270-9694-A607-F9F3-992E0BC6811B}"/>
                    </a:ext>
                  </a:extLst>
                </p:cNvPr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范围、设计与风险清单</a:t>
                  </a:r>
                </a:p>
              </p:txBody>
            </p:sp>
          </p:grp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3B289B1-FC12-C897-4C63-39F075B2BBB6}"/>
                  </a:ext>
                </a:extLst>
              </p:cNvPr>
              <p:cNvSpPr/>
              <p:nvPr/>
            </p:nvSpPr>
            <p:spPr>
              <a:xfrm>
                <a:off x="747483" y="3771255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</a:rPr>
                  <a:t>01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D40CEB9-7CA2-AE49-CF9C-CD2991F56ACE}"/>
                </a:ext>
              </a:extLst>
            </p:cNvPr>
            <p:cNvGrpSpPr/>
            <p:nvPr/>
          </p:nvGrpSpPr>
          <p:grpSpPr>
            <a:xfrm>
              <a:off x="2906583" y="3298225"/>
              <a:ext cx="2387601" cy="1758839"/>
              <a:chOff x="3513085" y="3246702"/>
              <a:chExt cx="2387601" cy="1758839"/>
            </a:xfrm>
          </p:grpSpPr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CF6C926D-FB9B-7607-43C3-99F6B023755A}"/>
                  </a:ext>
                </a:extLst>
              </p:cNvPr>
              <p:cNvGrpSpPr/>
              <p:nvPr/>
            </p:nvGrpSpPr>
            <p:grpSpPr>
              <a:xfrm>
                <a:off x="3513085" y="4182569"/>
                <a:ext cx="2387601" cy="822972"/>
                <a:chOff x="660400" y="4334130"/>
                <a:chExt cx="2387601" cy="822972"/>
              </a:xfrm>
            </p:grpSpPr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DA4BEA30-F4C1-1C23-99B8-195942EE83D4}"/>
                    </a:ext>
                  </a:extLst>
                </p:cNvPr>
                <p:cNvSpPr/>
                <p:nvPr/>
              </p:nvSpPr>
              <p:spPr>
                <a:xfrm>
                  <a:off x="660400" y="4334130"/>
                  <a:ext cx="1859584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accent1"/>
                      </a:solidFill>
                    </a:rPr>
                    <a:t>构建 1</a:t>
                  </a: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3118D6F7-EA71-8571-1623-69401187F332}"/>
                    </a:ext>
                  </a:extLst>
                </p:cNvPr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数据导入与自动分类</a:t>
                  </a:r>
                </a:p>
              </p:txBody>
            </p:sp>
          </p:grp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4548C8C-ABD4-1D7D-5BC5-8DA28A34100D}"/>
                  </a:ext>
                </a:extLst>
              </p:cNvPr>
              <p:cNvSpPr/>
              <p:nvPr/>
            </p:nvSpPr>
            <p:spPr>
              <a:xfrm>
                <a:off x="3513085" y="3246702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accent1"/>
                    </a:solidFill>
                  </a:rPr>
                  <a:t>02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0D9FF9C-F168-79FB-23C6-4BA4D7499643}"/>
                </a:ext>
              </a:extLst>
            </p:cNvPr>
            <p:cNvGrpSpPr/>
            <p:nvPr/>
          </p:nvGrpSpPr>
          <p:grpSpPr>
            <a:xfrm>
              <a:off x="5065682" y="3767880"/>
              <a:ext cx="2387602" cy="1801317"/>
              <a:chOff x="747483" y="3771255"/>
              <a:chExt cx="2387602" cy="1801317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4E1ECFA-4707-C772-6481-3769FF7D9992}"/>
                  </a:ext>
                </a:extLst>
              </p:cNvPr>
              <p:cNvGrpSpPr/>
              <p:nvPr/>
            </p:nvGrpSpPr>
            <p:grpSpPr>
              <a:xfrm>
                <a:off x="747484" y="4749600"/>
                <a:ext cx="2387601" cy="822972"/>
                <a:chOff x="660400" y="4334130"/>
                <a:chExt cx="2387601" cy="822972"/>
              </a:xfrm>
            </p:grpSpPr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3039AACF-831C-AA65-3040-794023AE8380}"/>
                    </a:ext>
                  </a:extLst>
                </p:cNvPr>
                <p:cNvSpPr/>
                <p:nvPr/>
              </p:nvSpPr>
              <p:spPr>
                <a:xfrm>
                  <a:off x="660400" y="4334130"/>
                  <a:ext cx="1859584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构建 2</a:t>
                  </a:r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B7596DD0-6638-A08B-C15E-8C494751FCBA}"/>
                    </a:ext>
                  </a:extLst>
                </p:cNvPr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支出概览与目标规划</a:t>
                  </a:r>
                </a:p>
              </p:txBody>
            </p:sp>
          </p:grp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3ADE2C3-5AAD-877F-6B10-C99EB356ACB5}"/>
                  </a:ext>
                </a:extLst>
              </p:cNvPr>
              <p:cNvSpPr/>
              <p:nvPr/>
            </p:nvSpPr>
            <p:spPr>
              <a:xfrm>
                <a:off x="747483" y="3771255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</a:rPr>
                  <a:t>03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A7D34E02-AC74-A07A-E0ED-2FDFDF397E34}"/>
                </a:ext>
              </a:extLst>
            </p:cNvPr>
            <p:cNvGrpSpPr/>
            <p:nvPr/>
          </p:nvGrpSpPr>
          <p:grpSpPr>
            <a:xfrm>
              <a:off x="7224782" y="3298225"/>
              <a:ext cx="2387601" cy="1980438"/>
              <a:chOff x="3513085" y="3246702"/>
              <a:chExt cx="2387601" cy="1980438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F17B5766-583F-0579-017F-0F6433B51888}"/>
                  </a:ext>
                </a:extLst>
              </p:cNvPr>
              <p:cNvGrpSpPr/>
              <p:nvPr/>
            </p:nvGrpSpPr>
            <p:grpSpPr>
              <a:xfrm>
                <a:off x="3513085" y="4182569"/>
                <a:ext cx="2387601" cy="1044571"/>
                <a:chOff x="660400" y="4334130"/>
                <a:chExt cx="2387601" cy="1044571"/>
              </a:xfrm>
            </p:grpSpPr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0EACA6E4-5A16-2865-647B-E429DBB692A9}"/>
                    </a:ext>
                  </a:extLst>
                </p:cNvPr>
                <p:cNvSpPr/>
                <p:nvPr/>
              </p:nvSpPr>
              <p:spPr>
                <a:xfrm>
                  <a:off x="660400" y="4334130"/>
                  <a:ext cx="2064769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accent1"/>
                      </a:solidFill>
                    </a:rPr>
                    <a:t>构建 3</a:t>
                  </a:r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8D57DB35-931E-3AB8-63A5-71C44AA3D31B}"/>
                    </a:ext>
                  </a:extLst>
                </p:cNvPr>
                <p:cNvSpPr/>
                <p:nvPr/>
              </p:nvSpPr>
              <p:spPr>
                <a:xfrm>
                  <a:off x="660401" y="4736501"/>
                  <a:ext cx="2387600" cy="6422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有依据问答与预算提醒</a:t>
                  </a:r>
                </a:p>
              </p:txBody>
            </p:sp>
          </p:grp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7E0C6C9-F9F8-1C93-49A0-84E8671AEAF1}"/>
                  </a:ext>
                </a:extLst>
              </p:cNvPr>
              <p:cNvSpPr/>
              <p:nvPr/>
            </p:nvSpPr>
            <p:spPr>
              <a:xfrm>
                <a:off x="3513085" y="3246702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accent1"/>
                    </a:solidFill>
                  </a:rPr>
                  <a:t>04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470D9C2B-D69A-600E-AA55-423BD1CAE90B}"/>
                </a:ext>
              </a:extLst>
            </p:cNvPr>
            <p:cNvGrpSpPr/>
            <p:nvPr/>
          </p:nvGrpSpPr>
          <p:grpSpPr>
            <a:xfrm>
              <a:off x="9383882" y="3767880"/>
              <a:ext cx="2387602" cy="1801317"/>
              <a:chOff x="747483" y="3771255"/>
              <a:chExt cx="2387602" cy="1801317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54D5156D-855D-F292-7E13-B813BE4DC4FF}"/>
                  </a:ext>
                </a:extLst>
              </p:cNvPr>
              <p:cNvGrpSpPr/>
              <p:nvPr/>
            </p:nvGrpSpPr>
            <p:grpSpPr>
              <a:xfrm>
                <a:off x="747484" y="4749600"/>
                <a:ext cx="2387601" cy="822972"/>
                <a:chOff x="660400" y="4334130"/>
                <a:chExt cx="2387601" cy="822972"/>
              </a:xfrm>
            </p:grpSpPr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CF2A3734-7271-FC7A-A027-DD4FA0A11E95}"/>
                    </a:ext>
                  </a:extLst>
                </p:cNvPr>
                <p:cNvSpPr/>
                <p:nvPr/>
              </p:nvSpPr>
              <p:spPr>
                <a:xfrm>
                  <a:off x="660400" y="4334130"/>
                  <a:ext cx="2269953" cy="46433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108000" tIns="108000" rIns="108000" bIns="108000" rtlCol="0" anchor="ctr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00000"/>
                    </a:lnSpc>
                  </a:pPr>
                  <a:r>
                    <a:rPr kumimoji="1" lang="zh-CN" altLang="en-US" sz="1600" b="1" dirty="0">
                      <a:solidFill>
                        <a:schemeClr val="tx1"/>
                      </a:solidFill>
                    </a:rPr>
                    <a:t>最终交付</a:t>
                  </a:r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3E802780-948C-BF85-C6E9-91F7088B7688}"/>
                    </a:ext>
                  </a:extLst>
                </p:cNvPr>
                <p:cNvSpPr/>
                <p:nvPr/>
              </p:nvSpPr>
              <p:spPr>
                <a:xfrm>
                  <a:off x="660401" y="4736501"/>
                  <a:ext cx="2387600" cy="420601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108000" tIns="108000" rIns="108000" bIns="108000" rtlCol="0" anchor="t" anchorCtr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</a:rPr>
                    <a:t>报告、幻灯片、演示视频与代码仓库</a:t>
                  </a:r>
                </a:p>
              </p:txBody>
            </p:sp>
          </p:grp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82A5C25-0438-127C-E2C3-F1667AE53572}"/>
                  </a:ext>
                </a:extLst>
              </p:cNvPr>
              <p:cNvSpPr/>
              <p:nvPr/>
            </p:nvSpPr>
            <p:spPr>
              <a:xfrm>
                <a:off x="747483" y="3771255"/>
                <a:ext cx="2387601" cy="10491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tIns="108000" rIns="108000" bIns="108000" rtlCol="0" anchor="ctr" anchorCtr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r>
                  <a:rPr kumimoji="1" lang="en-US" altLang="zh-CN" sz="5400" b="1" dirty="0">
                    <a:solidFill>
                      <a:schemeClr val="tx2"/>
                    </a:solidFill>
                  </a:rPr>
                  <a:t>05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11320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/>
              <a:t>03.风险、测试与团队计划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quarter" idx="1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/>
              <a:t>缓解措施、可度量验证、团队分工与里程碑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1855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660400" y="1019175"/>
            <a:ext cx="10858500" cy="4140755"/>
            <a:chOff x="660400" y="1019175"/>
            <a:chExt cx="10858500" cy="4140755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7DF982A8-E8ED-419D-B102-31BC86503E08}"/>
                </a:ext>
              </a:extLst>
            </p:cNvPr>
            <p:cNvGrpSpPr/>
            <p:nvPr/>
          </p:nvGrpSpPr>
          <p:grpSpPr>
            <a:xfrm>
              <a:off x="1476286" y="4274175"/>
              <a:ext cx="2620142" cy="885755"/>
              <a:chOff x="1828033" y="3283575"/>
              <a:chExt cx="2620142" cy="885755"/>
            </a:xfrm>
          </p:grpSpPr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C6B91222-ADAA-48C2-8B30-F129AE89EA05}"/>
                  </a:ext>
                </a:extLst>
              </p:cNvPr>
              <p:cNvGrpSpPr/>
              <p:nvPr/>
            </p:nvGrpSpPr>
            <p:grpSpPr>
              <a:xfrm>
                <a:off x="1828033" y="3362325"/>
                <a:ext cx="577572" cy="577570"/>
                <a:chOff x="3866383" y="1968240"/>
                <a:chExt cx="444222" cy="444220"/>
              </a:xfrm>
            </p:grpSpPr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C6A30489-0C6C-4195-A7C5-AD1C4A7EBF81}"/>
                    </a:ext>
                  </a:extLst>
                </p:cNvPr>
                <p:cNvSpPr/>
                <p:nvPr/>
              </p:nvSpPr>
              <p:spPr>
                <a:xfrm>
                  <a:off x="3866383" y="1968240"/>
                  <a:ext cx="444222" cy="444220"/>
                </a:xfrm>
                <a:prstGeom prst="ellipse">
                  <a:avLst/>
                </a:prstGeom>
                <a:solidFill>
                  <a:schemeClr val="accent1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>
                  <a:outerShdw blurRad="254000" dist="127000" algn="ctr" rotWithShape="0">
                    <a:schemeClr val="accent1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" name="任意多边形 5">
                  <a:extLst>
                    <a:ext uri="{FF2B5EF4-FFF2-40B4-BE49-F238E27FC236}">
                      <a16:creationId xmlns:a16="http://schemas.microsoft.com/office/drawing/2014/main" id="{F729AF39-2257-404A-9957-AE1CF1443D07}"/>
                    </a:ext>
                  </a:extLst>
                </p:cNvPr>
                <p:cNvSpPr/>
                <p:nvPr/>
              </p:nvSpPr>
              <p:spPr bwMode="auto">
                <a:xfrm>
                  <a:off x="3985714" y="2113265"/>
                  <a:ext cx="205561" cy="15417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EC535579-5AD6-40F6-8943-ADF36C0B5F5D}"/>
                  </a:ext>
                </a:extLst>
              </p:cNvPr>
              <p:cNvGrpSpPr/>
              <p:nvPr/>
            </p:nvGrpSpPr>
            <p:grpSpPr>
              <a:xfrm>
                <a:off x="2447310" y="3283575"/>
                <a:ext cx="2000865" cy="885755"/>
                <a:chOff x="2447310" y="3466444"/>
                <a:chExt cx="2000865" cy="885755"/>
              </a:xfrm>
            </p:grpSpPr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2BD7469A-748A-4C44-988E-D3E25486E306}"/>
                    </a:ext>
                  </a:extLst>
                </p:cNvPr>
                <p:cNvSpPr txBox="1"/>
                <p:nvPr/>
              </p:nvSpPr>
              <p:spPr>
                <a:xfrm>
                  <a:off x="2447310" y="3466444"/>
                  <a:ext cx="2000864" cy="369332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lang="zh-CN" altLang="en-US" sz="16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A · 前端与体验</a:t>
                  </a:r>
                </a:p>
              </p:txBody>
            </p:sp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2213F46-91B5-496F-879B-9542BBB50BC4}"/>
                    </a:ext>
                  </a:extLst>
                </p:cNvPr>
                <p:cNvSpPr txBox="1"/>
                <p:nvPr/>
              </p:nvSpPr>
              <p:spPr>
                <a:xfrm>
                  <a:off x="2447310" y="3835776"/>
                  <a:ext cx="2000865" cy="5164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defTabSz="913765">
                    <a:lnSpc>
                      <a:spcPct val="120000"/>
                    </a:lnSpc>
                    <a:buSzPct val="25000"/>
                    <a:defRPr/>
                  </a:pPr>
                  <a:r>
                    <a:rPr lang="zh-CN" altLang="en-US" sz="1200" dirty="0"/>
                    <a:t>Streamlit 界面：导入、图表、问答与提醒</a:t>
                  </a:r>
                </a:p>
              </p:txBody>
            </p:sp>
          </p:grp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89EEA5D2-6CBF-42A2-9FBD-02EFAF803D64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79579" y="4352925"/>
              <a:ext cx="577572" cy="577570"/>
              <a:chOff x="4669386" y="1968240"/>
              <a:chExt cx="444222" cy="444220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769EAAE8-BFFD-4D4D-9181-B9273B4D4B7C}"/>
                  </a:ext>
                </a:extLst>
              </p:cNvPr>
              <p:cNvSpPr/>
              <p:nvPr/>
            </p:nvSpPr>
            <p:spPr>
              <a:xfrm>
                <a:off x="4669386" y="1968240"/>
                <a:ext cx="444222" cy="444220"/>
              </a:xfrm>
              <a:prstGeom prst="ellipse">
                <a:avLst/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任意多边形 8">
                <a:extLst>
                  <a:ext uri="{FF2B5EF4-FFF2-40B4-BE49-F238E27FC236}">
                    <a16:creationId xmlns:a16="http://schemas.microsoft.com/office/drawing/2014/main" id="{02647878-711C-4D57-A703-0B7F806D3D40}"/>
                  </a:ext>
                </a:extLst>
              </p:cNvPr>
              <p:cNvSpPr/>
              <p:nvPr/>
            </p:nvSpPr>
            <p:spPr bwMode="auto">
              <a:xfrm>
                <a:off x="4788717" y="2104784"/>
                <a:ext cx="205561" cy="171132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72B484F-3FA7-498B-B8C0-7E8F807B3826}"/>
                </a:ext>
              </a:extLst>
            </p:cNvPr>
            <p:cNvGrpSpPr/>
            <p:nvPr/>
          </p:nvGrpSpPr>
          <p:grpSpPr>
            <a:xfrm>
              <a:off x="5398855" y="4274175"/>
              <a:ext cx="2000866" cy="885755"/>
              <a:chOff x="2447309" y="3466444"/>
              <a:chExt cx="2000866" cy="885755"/>
            </a:xfrm>
          </p:grpSpPr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AA733A9E-4BE3-4DAF-B3D8-02BB7027C565}"/>
                  </a:ext>
                </a:extLst>
              </p:cNvPr>
              <p:cNvSpPr txBox="1"/>
              <p:nvPr/>
            </p:nvSpPr>
            <p:spPr>
              <a:xfrm>
                <a:off x="2447309" y="3466444"/>
                <a:ext cx="2000863" cy="36933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sz="1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B · 后端与数据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7DB175F-9A1F-4010-8816-2464EBEC7E4A}"/>
                  </a:ext>
                </a:extLst>
              </p:cNvPr>
              <p:cNvSpPr txBox="1"/>
              <p:nvPr/>
            </p:nvSpPr>
            <p:spPr>
              <a:xfrm>
                <a:off x="2447310" y="3835776"/>
                <a:ext cx="2000865" cy="516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defTabSz="913765">
                  <a:lnSpc>
                    <a:spcPct val="120000"/>
                  </a:lnSpc>
                  <a:buSzPct val="25000"/>
                  <a:defRPr/>
                </a:pPr>
                <a:r>
                  <a:rPr lang="zh-CN" altLang="en-US" sz="1200" dirty="0"/>
                  <a:t>账单解析、去重校验、SQLite 存储</a:t>
                </a:r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ECAEBEB9-C7EE-49EF-8882-A4D92E04DFC5}"/>
                </a:ext>
              </a:extLst>
            </p:cNvPr>
            <p:cNvGrpSpPr/>
            <p:nvPr/>
          </p:nvGrpSpPr>
          <p:grpSpPr>
            <a:xfrm>
              <a:off x="8082872" y="4274175"/>
              <a:ext cx="2620142" cy="885755"/>
              <a:chOff x="8434619" y="3283575"/>
              <a:chExt cx="2620142" cy="885755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181D9F14-701E-40E7-997A-85C89BC11433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8434619" y="3362325"/>
                <a:ext cx="577572" cy="577570"/>
                <a:chOff x="5472389" y="1968240"/>
                <a:chExt cx="444222" cy="444220"/>
              </a:xfrm>
            </p:grpSpPr>
            <p:sp>
              <p:nvSpPr>
                <p:cNvPr id="11" name="椭圆 10">
                  <a:extLst>
                    <a:ext uri="{FF2B5EF4-FFF2-40B4-BE49-F238E27FC236}">
                      <a16:creationId xmlns:a16="http://schemas.microsoft.com/office/drawing/2014/main" id="{A6F81A63-B903-4CD8-9AED-ABFAA82E8CA3}"/>
                    </a:ext>
                  </a:extLst>
                </p:cNvPr>
                <p:cNvSpPr/>
                <p:nvPr/>
              </p:nvSpPr>
              <p:spPr>
                <a:xfrm>
                  <a:off x="5472389" y="1968240"/>
                  <a:ext cx="444222" cy="444220"/>
                </a:xfrm>
                <a:prstGeom prst="ellipse">
                  <a:avLst/>
                </a:prstGeom>
                <a:solidFill>
                  <a:schemeClr val="accent3"/>
                </a:solidFill>
                <a:ln w="12700" cap="rnd">
                  <a:noFill/>
                  <a:prstDash val="solid"/>
                  <a:round/>
                  <a:headEnd/>
                  <a:tailEnd/>
                </a:ln>
                <a:effectLst>
                  <a:outerShdw blurRad="254000" dist="127000" algn="ctr" rotWithShape="0">
                    <a:schemeClr val="accent3">
                      <a:alpha val="32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" name="任意多边形 11">
                  <a:extLst>
                    <a:ext uri="{FF2B5EF4-FFF2-40B4-BE49-F238E27FC236}">
                      <a16:creationId xmlns:a16="http://schemas.microsoft.com/office/drawing/2014/main" id="{4792AA57-3B90-46F3-B1C6-3F2F71FF01AF}"/>
                    </a:ext>
                  </a:extLst>
                </p:cNvPr>
                <p:cNvSpPr/>
                <p:nvPr/>
              </p:nvSpPr>
              <p:spPr bwMode="auto">
                <a:xfrm>
                  <a:off x="5591719" y="2096747"/>
                  <a:ext cx="205561" cy="187207"/>
                </a:xfrm>
                <a:custGeom>
                  <a:avLst/>
                  <a:gdLst>
                    <a:gd name="connsiteX0" fmla="*/ 125329 w 533400"/>
                    <a:gd name="connsiteY0" fmla="*/ 229221 h 485775"/>
                    <a:gd name="connsiteX1" fmla="*/ 125329 w 533400"/>
                    <a:gd name="connsiteY1" fmla="*/ 276846 h 485775"/>
                    <a:gd name="connsiteX2" fmla="*/ 144379 w 533400"/>
                    <a:gd name="connsiteY2" fmla="*/ 276846 h 485775"/>
                    <a:gd name="connsiteX3" fmla="*/ 144379 w 533400"/>
                    <a:gd name="connsiteY3" fmla="*/ 229221 h 485775"/>
                    <a:gd name="connsiteX4" fmla="*/ 392029 w 533400"/>
                    <a:gd name="connsiteY4" fmla="*/ 229221 h 485775"/>
                    <a:gd name="connsiteX5" fmla="*/ 392029 w 533400"/>
                    <a:gd name="connsiteY5" fmla="*/ 276846 h 485775"/>
                    <a:gd name="connsiteX6" fmla="*/ 411079 w 533400"/>
                    <a:gd name="connsiteY6" fmla="*/ 276846 h 485775"/>
                    <a:gd name="connsiteX7" fmla="*/ 411079 w 533400"/>
                    <a:gd name="connsiteY7" fmla="*/ 229221 h 485775"/>
                    <a:gd name="connsiteX8" fmla="*/ 534904 w 533400"/>
                    <a:gd name="connsiteY8" fmla="*/ 229221 h 485775"/>
                    <a:gd name="connsiteX9" fmla="*/ 534904 w 533400"/>
                    <a:gd name="connsiteY9" fmla="*/ 457821 h 485775"/>
                    <a:gd name="connsiteX10" fmla="*/ 506329 w 533400"/>
                    <a:gd name="connsiteY10" fmla="*/ 486396 h 485775"/>
                    <a:gd name="connsiteX11" fmla="*/ 30079 w 533400"/>
                    <a:gd name="connsiteY11" fmla="*/ 486396 h 485775"/>
                    <a:gd name="connsiteX12" fmla="*/ 1504 w 533400"/>
                    <a:gd name="connsiteY12" fmla="*/ 457821 h 485775"/>
                    <a:gd name="connsiteX13" fmla="*/ 1504 w 533400"/>
                    <a:gd name="connsiteY13" fmla="*/ 229221 h 485775"/>
                    <a:gd name="connsiteX14" fmla="*/ 125329 w 533400"/>
                    <a:gd name="connsiteY14" fmla="*/ 229221 h 485775"/>
                    <a:gd name="connsiteX15" fmla="*/ 372979 w 533400"/>
                    <a:gd name="connsiteY15" fmla="*/ 621 h 485775"/>
                    <a:gd name="connsiteX16" fmla="*/ 411079 w 533400"/>
                    <a:gd name="connsiteY16" fmla="*/ 36816 h 485775"/>
                    <a:gd name="connsiteX17" fmla="*/ 411079 w 533400"/>
                    <a:gd name="connsiteY17" fmla="*/ 38721 h 485775"/>
                    <a:gd name="connsiteX18" fmla="*/ 411079 w 533400"/>
                    <a:gd name="connsiteY18" fmla="*/ 114921 h 485775"/>
                    <a:gd name="connsiteX19" fmla="*/ 506329 w 533400"/>
                    <a:gd name="connsiteY19" fmla="*/ 114921 h 485775"/>
                    <a:gd name="connsiteX20" fmla="*/ 534904 w 533400"/>
                    <a:gd name="connsiteY20" fmla="*/ 143496 h 485775"/>
                    <a:gd name="connsiteX21" fmla="*/ 534904 w 533400"/>
                    <a:gd name="connsiteY21" fmla="*/ 210171 h 485775"/>
                    <a:gd name="connsiteX22" fmla="*/ 1504 w 533400"/>
                    <a:gd name="connsiteY22" fmla="*/ 210171 h 485775"/>
                    <a:gd name="connsiteX23" fmla="*/ 1504 w 533400"/>
                    <a:gd name="connsiteY23" fmla="*/ 143496 h 485775"/>
                    <a:gd name="connsiteX24" fmla="*/ 30079 w 533400"/>
                    <a:gd name="connsiteY24" fmla="*/ 114921 h 485775"/>
                    <a:gd name="connsiteX25" fmla="*/ 125329 w 533400"/>
                    <a:gd name="connsiteY25" fmla="*/ 114921 h 485775"/>
                    <a:gd name="connsiteX26" fmla="*/ 125329 w 533400"/>
                    <a:gd name="connsiteY26" fmla="*/ 38721 h 485775"/>
                    <a:gd name="connsiteX27" fmla="*/ 161524 w 533400"/>
                    <a:gd name="connsiteY27" fmla="*/ 621 h 485775"/>
                    <a:gd name="connsiteX28" fmla="*/ 163429 w 533400"/>
                    <a:gd name="connsiteY28" fmla="*/ 621 h 485775"/>
                    <a:gd name="connsiteX29" fmla="*/ 372979 w 533400"/>
                    <a:gd name="connsiteY29" fmla="*/ 621 h 485775"/>
                    <a:gd name="connsiteX30" fmla="*/ 372979 w 533400"/>
                    <a:gd name="connsiteY30" fmla="*/ 19671 h 485775"/>
                    <a:gd name="connsiteX31" fmla="*/ 163429 w 533400"/>
                    <a:gd name="connsiteY31" fmla="*/ 19671 h 485775"/>
                    <a:gd name="connsiteX32" fmla="*/ 144474 w 533400"/>
                    <a:gd name="connsiteY32" fmla="*/ 37292 h 485775"/>
                    <a:gd name="connsiteX33" fmla="*/ 144379 w 533400"/>
                    <a:gd name="connsiteY33" fmla="*/ 38721 h 485775"/>
                    <a:gd name="connsiteX34" fmla="*/ 144379 w 533400"/>
                    <a:gd name="connsiteY34" fmla="*/ 114921 h 485775"/>
                    <a:gd name="connsiteX35" fmla="*/ 392029 w 533400"/>
                    <a:gd name="connsiteY35" fmla="*/ 114921 h 485775"/>
                    <a:gd name="connsiteX36" fmla="*/ 392029 w 533400"/>
                    <a:gd name="connsiteY36" fmla="*/ 38721 h 485775"/>
                    <a:gd name="connsiteX37" fmla="*/ 375836 w 533400"/>
                    <a:gd name="connsiteY37" fmla="*/ 19862 h 485775"/>
                    <a:gd name="connsiteX38" fmla="*/ 374408 w 533400"/>
                    <a:gd name="connsiteY38" fmla="*/ 19671 h 485775"/>
                    <a:gd name="connsiteX39" fmla="*/ 372979 w 533400"/>
                    <a:gd name="connsiteY39" fmla="*/ 19671 h 4857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533400" h="485775">
                      <a:moveTo>
                        <a:pt x="125329" y="229221"/>
                      </a:moveTo>
                      <a:lnTo>
                        <a:pt x="125329" y="276846"/>
                      </a:lnTo>
                      <a:lnTo>
                        <a:pt x="144379" y="276846"/>
                      </a:lnTo>
                      <a:lnTo>
                        <a:pt x="144379" y="229221"/>
                      </a:lnTo>
                      <a:lnTo>
                        <a:pt x="392029" y="229221"/>
                      </a:lnTo>
                      <a:lnTo>
                        <a:pt x="392029" y="276846"/>
                      </a:lnTo>
                      <a:lnTo>
                        <a:pt x="411079" y="276846"/>
                      </a:lnTo>
                      <a:lnTo>
                        <a:pt x="411079" y="229221"/>
                      </a:lnTo>
                      <a:lnTo>
                        <a:pt x="534904" y="229221"/>
                      </a:lnTo>
                      <a:lnTo>
                        <a:pt x="534904" y="457821"/>
                      </a:lnTo>
                      <a:cubicBezTo>
                        <a:pt x="534904" y="473632"/>
                        <a:pt x="522141" y="486396"/>
                        <a:pt x="506329" y="486396"/>
                      </a:cubicBezTo>
                      <a:lnTo>
                        <a:pt x="30079" y="486396"/>
                      </a:lnTo>
                      <a:cubicBezTo>
                        <a:pt x="14267" y="486396"/>
                        <a:pt x="1504" y="473632"/>
                        <a:pt x="1504" y="457821"/>
                      </a:cubicBezTo>
                      <a:lnTo>
                        <a:pt x="1504" y="229221"/>
                      </a:lnTo>
                      <a:lnTo>
                        <a:pt x="125329" y="229221"/>
                      </a:lnTo>
                      <a:close/>
                      <a:moveTo>
                        <a:pt x="372979" y="621"/>
                      </a:moveTo>
                      <a:cubicBezTo>
                        <a:pt x="393363" y="621"/>
                        <a:pt x="410031" y="16623"/>
                        <a:pt x="411079" y="36816"/>
                      </a:cubicBezTo>
                      <a:lnTo>
                        <a:pt x="411079" y="38721"/>
                      </a:lnTo>
                      <a:lnTo>
                        <a:pt x="411079" y="114921"/>
                      </a:lnTo>
                      <a:lnTo>
                        <a:pt x="506329" y="114921"/>
                      </a:lnTo>
                      <a:cubicBezTo>
                        <a:pt x="522141" y="114921"/>
                        <a:pt x="534904" y="127685"/>
                        <a:pt x="534904" y="143496"/>
                      </a:cubicBezTo>
                      <a:lnTo>
                        <a:pt x="534904" y="210171"/>
                      </a:lnTo>
                      <a:lnTo>
                        <a:pt x="1504" y="210171"/>
                      </a:lnTo>
                      <a:lnTo>
                        <a:pt x="1504" y="143496"/>
                      </a:lnTo>
                      <a:cubicBezTo>
                        <a:pt x="1504" y="127685"/>
                        <a:pt x="14267" y="114921"/>
                        <a:pt x="30079" y="114921"/>
                      </a:cubicBezTo>
                      <a:lnTo>
                        <a:pt x="125329" y="114921"/>
                      </a:lnTo>
                      <a:lnTo>
                        <a:pt x="125329" y="38721"/>
                      </a:lnTo>
                      <a:cubicBezTo>
                        <a:pt x="125329" y="18337"/>
                        <a:pt x="141331" y="1669"/>
                        <a:pt x="161524" y="621"/>
                      </a:cubicBezTo>
                      <a:lnTo>
                        <a:pt x="163429" y="621"/>
                      </a:lnTo>
                      <a:lnTo>
                        <a:pt x="372979" y="621"/>
                      </a:lnTo>
                      <a:close/>
                      <a:moveTo>
                        <a:pt x="372979" y="19671"/>
                      </a:moveTo>
                      <a:lnTo>
                        <a:pt x="163429" y="19671"/>
                      </a:lnTo>
                      <a:cubicBezTo>
                        <a:pt x="153428" y="19671"/>
                        <a:pt x="145141" y="27482"/>
                        <a:pt x="144474" y="37292"/>
                      </a:cubicBezTo>
                      <a:lnTo>
                        <a:pt x="144379" y="38721"/>
                      </a:lnTo>
                      <a:lnTo>
                        <a:pt x="144379" y="114921"/>
                      </a:lnTo>
                      <a:lnTo>
                        <a:pt x="392029" y="114921"/>
                      </a:lnTo>
                      <a:lnTo>
                        <a:pt x="392029" y="38721"/>
                      </a:lnTo>
                      <a:cubicBezTo>
                        <a:pt x="392029" y="29196"/>
                        <a:pt x="384981" y="21290"/>
                        <a:pt x="375836" y="19862"/>
                      </a:cubicBezTo>
                      <a:lnTo>
                        <a:pt x="374408" y="19671"/>
                      </a:lnTo>
                      <a:lnTo>
                        <a:pt x="372979" y="1967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26" name="组合 25">
                <a:extLst>
                  <a:ext uri="{FF2B5EF4-FFF2-40B4-BE49-F238E27FC236}">
                    <a16:creationId xmlns:a16="http://schemas.microsoft.com/office/drawing/2014/main" id="{7B69AC8A-5D37-4809-8FD5-9FC793CBCD18}"/>
                  </a:ext>
                </a:extLst>
              </p:cNvPr>
              <p:cNvGrpSpPr/>
              <p:nvPr/>
            </p:nvGrpSpPr>
            <p:grpSpPr>
              <a:xfrm>
                <a:off x="9053895" y="3283575"/>
                <a:ext cx="2000866" cy="885755"/>
                <a:chOff x="2447309" y="3466444"/>
                <a:chExt cx="2000866" cy="885755"/>
              </a:xfrm>
            </p:grpSpPr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0FED441C-C3EF-4B8C-8FDB-BD4C2309A43E}"/>
                    </a:ext>
                  </a:extLst>
                </p:cNvPr>
                <p:cNvSpPr txBox="1"/>
                <p:nvPr/>
              </p:nvSpPr>
              <p:spPr>
                <a:xfrm>
                  <a:off x="2447309" y="3466444"/>
                  <a:ext cx="2000863" cy="369332"/>
                </a:xfrm>
                <a:prstGeom prst="rect">
                  <a:avLst/>
                </a:prstGeom>
                <a:noFill/>
              </p:spPr>
              <p:txBody>
                <a:bodyPr wrap="none" rtlCol="0" anchor="b">
                  <a:normAutofit/>
                </a:bodyPr>
                <a:lstStyle/>
                <a:p>
                  <a:pPr>
                    <a:lnSpc>
                      <a:spcPct val="100000"/>
                    </a:lnSpc>
                  </a:pPr>
                  <a:r>
                    <a:rPr lang="zh-CN" altLang="en-US" sz="1600" b="1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C · AI、测试、文档</a:t>
                  </a:r>
                </a:p>
              </p:txBody>
            </p:sp>
            <p:sp>
              <p:nvSpPr>
                <p:cNvPr id="28" name="文本框 27">
                  <a:extLst>
                    <a:ext uri="{FF2B5EF4-FFF2-40B4-BE49-F238E27FC236}">
                      <a16:creationId xmlns:a16="http://schemas.microsoft.com/office/drawing/2014/main" id="{E1521A0A-E02E-49B7-9DCE-BD364F82CB02}"/>
                    </a:ext>
                  </a:extLst>
                </p:cNvPr>
                <p:cNvSpPr txBox="1"/>
                <p:nvPr/>
              </p:nvSpPr>
              <p:spPr>
                <a:xfrm>
                  <a:off x="2447310" y="3835776"/>
                  <a:ext cx="2000865" cy="5164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defTabSz="913765">
                    <a:lnSpc>
                      <a:spcPct val="120000"/>
                    </a:lnSpc>
                    <a:buSzPct val="25000"/>
                    <a:defRPr/>
                  </a:pPr>
                  <a:r>
                    <a:rPr lang="zh-CN" altLang="en-US" sz="1200" dirty="0"/>
                    <a:t>LLM 集成；执行测试计划并负责文档</a:t>
                  </a:r>
                </a:p>
              </p:txBody>
            </p:sp>
          </p:grp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78755C61-E306-41C5-85D4-3A469728D8E4}"/>
                </a:ext>
              </a:extLst>
            </p:cNvPr>
            <p:cNvGrpSpPr/>
            <p:nvPr/>
          </p:nvGrpSpPr>
          <p:grpSpPr>
            <a:xfrm>
              <a:off x="660400" y="1019175"/>
              <a:ext cx="10858500" cy="1750062"/>
              <a:chOff x="660400" y="1019175"/>
              <a:chExt cx="10858500" cy="1750062"/>
            </a:xfrm>
          </p:grpSpPr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30F1568-E559-4C3E-9522-EFA39CB04D3F}"/>
                  </a:ext>
                </a:extLst>
              </p:cNvPr>
              <p:cNvSpPr txBox="1"/>
              <p:nvPr/>
            </p:nvSpPr>
            <p:spPr>
              <a:xfrm>
                <a:off x="660400" y="1019175"/>
                <a:ext cx="108585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zh-CN" altLang="en-US" sz="2400" b="1" dirty="0">
                    <a:solidFill>
                      <a:schemeClr val="tx1"/>
                    </a:solidFill>
                  </a:rPr>
                  <a:t>三人团队，共一条流水线</a:t>
                </a: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25FE2555-1D02-4384-8278-834B8338684A}"/>
                  </a:ext>
                </a:extLst>
              </p:cNvPr>
              <p:cNvSpPr txBox="1"/>
              <p:nvPr/>
            </p:nvSpPr>
            <p:spPr>
              <a:xfrm>
                <a:off x="660400" y="2474413"/>
                <a:ext cx="10858499" cy="294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zh-CN" altLang="en-US" sz="1200" dirty="0"/>
                  <a:t>界面、数据、智能——每位成员各负责一层</a:t>
                </a:r>
              </a:p>
            </p:txBody>
          </p:sp>
        </p:grp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13B5AF18-B243-4C90-A7E7-21FB836F9452}"/>
                </a:ext>
              </a:extLst>
            </p:cNvPr>
            <p:cNvCxnSpPr>
              <a:cxnSpLocks/>
            </p:cNvCxnSpPr>
            <p:nvPr/>
          </p:nvCxnSpPr>
          <p:spPr>
            <a:xfrm>
              <a:off x="5637936" y="2233640"/>
              <a:ext cx="903429" cy="0"/>
            </a:xfrm>
            <a:prstGeom prst="line">
              <a:avLst/>
            </a:prstGeom>
            <a:ln w="19050" cap="rnd"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itle 6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团队分工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6894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íṡliḍe"/>
          <p:cNvGrpSpPr/>
          <p:nvPr/>
        </p:nvGrpSpPr>
        <p:grpSpPr>
          <a:xfrm>
            <a:off x="660400" y="1156685"/>
            <a:ext cx="11531600" cy="5007579"/>
            <a:chOff x="660400" y="1156685"/>
            <a:chExt cx="11531600" cy="5007579"/>
          </a:xfrm>
        </p:grpSpPr>
        <p:cxnSp>
          <p:nvCxnSpPr>
            <p:cNvPr id="2" name="îṣlïḍé"/>
            <p:cNvCxnSpPr/>
            <p:nvPr/>
          </p:nvCxnSpPr>
          <p:spPr>
            <a:xfrm>
              <a:off x="6135624" y="1298448"/>
              <a:ext cx="0" cy="548640"/>
            </a:xfrm>
            <a:prstGeom prst="line">
              <a:avLst/>
            </a:prstGeom>
            <a:noFill/>
            <a:ln w="25400" cap="flat">
              <a:solidFill>
                <a:schemeClr val="accent3"/>
              </a:solidFill>
              <a:prstDash val="solid"/>
              <a:bevel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" name="iṩ1îḋê"/>
            <p:cNvSpPr txBox="1"/>
            <p:nvPr/>
          </p:nvSpPr>
          <p:spPr>
            <a:xfrm>
              <a:off x="6263640" y="129844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LLM 分类错误</a:t>
              </a:r>
            </a:p>
          </p:txBody>
        </p:sp>
        <p:sp>
          <p:nvSpPr>
            <p:cNvPr id="4" name="ïṡľïdé"/>
            <p:cNvSpPr txBox="1"/>
            <p:nvPr/>
          </p:nvSpPr>
          <p:spPr>
            <a:xfrm>
              <a:off x="6263640" y="1664207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规则兜底 + 用户修正界面，先用标注样例校准</a:t>
              </a:r>
            </a:p>
          </p:txBody>
        </p:sp>
        <p:sp>
          <p:nvSpPr>
            <p:cNvPr id="6" name="işḷîḋe"/>
            <p:cNvSpPr txBox="1"/>
            <p:nvPr/>
          </p:nvSpPr>
          <p:spPr>
            <a:xfrm>
              <a:off x="6263640" y="294436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rgbClr val="FFFFFF"/>
                  </a:solidFill>
                </a:rPr>
                <a:t>计算错误</a:t>
              </a:r>
            </a:p>
          </p:txBody>
        </p:sp>
        <p:sp>
          <p:nvSpPr>
            <p:cNvPr id="7" name="îṡliḋè"/>
            <p:cNvSpPr txBox="1"/>
            <p:nvPr/>
          </p:nvSpPr>
          <p:spPr>
            <a:xfrm>
              <a:off x="6263640" y="3310127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rgbClr val="FFFFFF"/>
                  </a:solidFill>
                </a:rPr>
                <a:t>金额与比例全部由 Pandas/SQL 代码计算，LLM 不参与</a:t>
              </a:r>
            </a:p>
          </p:txBody>
        </p:sp>
        <p:cxnSp>
          <p:nvCxnSpPr>
            <p:cNvPr id="8" name="íşḷîdè"/>
            <p:cNvCxnSpPr/>
            <p:nvPr/>
          </p:nvCxnSpPr>
          <p:spPr>
            <a:xfrm>
              <a:off x="6135624" y="2944368"/>
              <a:ext cx="0" cy="548640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bevel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" name="iṥḻídè"/>
            <p:cNvSpPr txBox="1"/>
            <p:nvPr/>
          </p:nvSpPr>
          <p:spPr>
            <a:xfrm>
              <a:off x="6263640" y="376732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数据隐私</a:t>
              </a:r>
            </a:p>
          </p:txBody>
        </p:sp>
        <p:sp>
          <p:nvSpPr>
            <p:cNvPr id="10" name="îṩļîde"/>
            <p:cNvSpPr txBox="1"/>
            <p:nvPr/>
          </p:nvSpPr>
          <p:spPr>
            <a:xfrm>
              <a:off x="6263640" y="413308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默认使用本地与样例数据，不向外部上传</a:t>
              </a:r>
            </a:p>
          </p:txBody>
        </p:sp>
        <p:cxnSp>
          <p:nvCxnSpPr>
            <p:cNvPr id="11" name="ïṧlíḑê"/>
            <p:cNvCxnSpPr/>
            <p:nvPr/>
          </p:nvCxnSpPr>
          <p:spPr>
            <a:xfrm>
              <a:off x="6135624" y="4590288"/>
              <a:ext cx="0" cy="548640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bevel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" name="îs1îḓè"/>
            <p:cNvSpPr txBox="1"/>
            <p:nvPr/>
          </p:nvSpPr>
          <p:spPr>
            <a:xfrm>
              <a:off x="6263640" y="459028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范围蔓延</a:t>
              </a:r>
            </a:p>
          </p:txBody>
        </p:sp>
        <p:sp>
          <p:nvSpPr>
            <p:cNvPr id="13" name="ïś1ïḋè"/>
            <p:cNvSpPr txBox="1"/>
            <p:nvPr/>
          </p:nvSpPr>
          <p:spPr>
            <a:xfrm>
              <a:off x="6263640" y="495604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固定一条主流程和 3 条用户故事，新增需求须重新评审</a:t>
              </a:r>
            </a:p>
          </p:txBody>
        </p:sp>
        <p:sp>
          <p:nvSpPr>
            <p:cNvPr id="15" name="ïṧḷïḑê"/>
            <p:cNvSpPr txBox="1"/>
            <p:nvPr/>
          </p:nvSpPr>
          <p:spPr>
            <a:xfrm>
              <a:off x="6263640" y="541324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异常输入</a:t>
              </a:r>
            </a:p>
          </p:txBody>
        </p:sp>
        <p:sp>
          <p:nvSpPr>
            <p:cNvPr id="16" name="ïş1íďè"/>
            <p:cNvSpPr txBox="1"/>
            <p:nvPr/>
          </p:nvSpPr>
          <p:spPr>
            <a:xfrm>
              <a:off x="6263640" y="577900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导入时去重、字段校验并提示缺失值</a:t>
              </a:r>
            </a:p>
          </p:txBody>
        </p:sp>
        <p:sp>
          <p:nvSpPr>
            <p:cNvPr id="27" name="íŝ1ïḋe">
              <a:extLst>
                <a:ext uri="{FF2B5EF4-FFF2-40B4-BE49-F238E27FC236}">
                  <a16:creationId xmlns:a16="http://schemas.microsoft.com/office/drawing/2014/main" id="{B25BCCD1-7648-4B51-B56B-B49600986DEA}"/>
                </a:ext>
              </a:extLst>
            </p:cNvPr>
            <p:cNvSpPr txBox="1"/>
            <p:nvPr/>
          </p:nvSpPr>
          <p:spPr>
            <a:xfrm>
              <a:off x="660400" y="1156685"/>
              <a:ext cx="4000501" cy="1733561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六项风险，每项都有对应的缓解措施</a:t>
              </a:r>
            </a:p>
          </p:txBody>
        </p:sp>
        <p:sp>
          <p:nvSpPr>
            <p:cNvPr id="3" name="iṩ1îḋê"/>
            <p:cNvSpPr txBox="1"/>
            <p:nvPr/>
          </p:nvSpPr>
          <p:spPr>
            <a:xfrm>
              <a:off x="6263640" y="212140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无依据 / 幻觉回答</a:t>
              </a:r>
            </a:p>
          </p:txBody>
        </p:sp>
        <p:sp>
          <p:nvSpPr>
            <p:cNvPr id="4" name="ïṡľïdé"/>
            <p:cNvSpPr txBox="1"/>
            <p:nvPr/>
          </p:nvSpPr>
          <p:spPr>
            <a:xfrm>
              <a:off x="6263640" y="248716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只从导入数据作答并引用源记录，不足时明确拒绝</a:t>
              </a:r>
            </a:p>
          </p:txBody>
        </p:sp>
      </p:grpSp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风险与缓解措施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4338956"/>
      </p:ext>
    </p:extLst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" name="íṡliḍe"/>
          <p:cNvGrpSpPr/>
          <p:nvPr/>
        </p:nvGrpSpPr>
        <p:grpSpPr>
          <a:xfrm>
            <a:off x="660400" y="1156685"/>
            <a:ext cx="11531600" cy="5007579"/>
            <a:chOff x="660400" y="1156685"/>
            <a:chExt cx="11531600" cy="5007579"/>
          </a:xfrm>
        </p:grpSpPr>
        <p:cxnSp>
          <p:nvCxnSpPr>
            <p:cNvPr id="2" name="îṣlïḍé"/>
            <p:cNvCxnSpPr/>
            <p:nvPr/>
          </p:nvCxnSpPr>
          <p:spPr>
            <a:xfrm>
              <a:off x="6135624" y="1298448"/>
              <a:ext cx="0" cy="548640"/>
            </a:xfrm>
            <a:prstGeom prst="line">
              <a:avLst/>
            </a:prstGeom>
            <a:noFill/>
            <a:ln w="25400" cap="flat">
              <a:solidFill>
                <a:schemeClr val="accent3"/>
              </a:solidFill>
              <a:prstDash val="solid"/>
              <a:bevel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" name="iṩ1îḋê"/>
            <p:cNvSpPr txBox="1"/>
            <p:nvPr/>
          </p:nvSpPr>
          <p:spPr>
            <a:xfrm>
              <a:off x="6263640" y="129844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分类准确率 ≥ 90%</a:t>
              </a:r>
            </a:p>
          </p:txBody>
        </p:sp>
        <p:sp>
          <p:nvSpPr>
            <p:cNvPr id="4" name="ïṡľïdé"/>
            <p:cNvSpPr txBox="1"/>
            <p:nvPr/>
          </p:nvSpPr>
          <p:spPr>
            <a:xfrm>
              <a:off x="6263640" y="1664207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用 100 条人工标注流水检验分类器</a:t>
              </a:r>
            </a:p>
          </p:txBody>
        </p:sp>
        <p:sp>
          <p:nvSpPr>
            <p:cNvPr id="6" name="işḷîḋe"/>
            <p:cNvSpPr txBox="1"/>
            <p:nvPr/>
          </p:nvSpPr>
          <p:spPr>
            <a:xfrm>
              <a:off x="6263640" y="294436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rgbClr val="FFFFFF"/>
                  </a:solidFill>
                </a:rPr>
                <a:t>三组单元测试</a:t>
              </a:r>
            </a:p>
          </p:txBody>
        </p:sp>
        <p:sp>
          <p:nvSpPr>
            <p:cNvPr id="7" name="îṡliḋè"/>
            <p:cNvSpPr txBox="1"/>
            <p:nvPr/>
          </p:nvSpPr>
          <p:spPr>
            <a:xfrm>
              <a:off x="6263640" y="3310127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rgbClr val="FFFFFF"/>
                  </a:solidFill>
                </a:rPr>
                <a:t>覆盖汇总、趋势、预算，全部由代码完成</a:t>
              </a:r>
            </a:p>
          </p:txBody>
        </p:sp>
        <p:cxnSp>
          <p:nvCxnSpPr>
            <p:cNvPr id="8" name="íşḷîdè"/>
            <p:cNvCxnSpPr/>
            <p:nvPr/>
          </p:nvCxnSpPr>
          <p:spPr>
            <a:xfrm>
              <a:off x="6135624" y="2944368"/>
              <a:ext cx="0" cy="548640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prstDash val="solid"/>
              <a:bevel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9" name="iṥḻídè"/>
            <p:cNvSpPr txBox="1"/>
            <p:nvPr/>
          </p:nvSpPr>
          <p:spPr>
            <a:xfrm>
              <a:off x="6263640" y="376732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隐私检查：0 次外传</a:t>
              </a:r>
            </a:p>
          </p:txBody>
        </p:sp>
        <p:sp>
          <p:nvSpPr>
            <p:cNvPr id="10" name="îṩļîde"/>
            <p:cNvSpPr txBox="1"/>
            <p:nvPr/>
          </p:nvSpPr>
          <p:spPr>
            <a:xfrm>
              <a:off x="6263640" y="413308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验证无外部请求，仅用本地与样例数据</a:t>
              </a:r>
            </a:p>
          </p:txBody>
        </p:sp>
        <p:cxnSp>
          <p:nvCxnSpPr>
            <p:cNvPr id="11" name="ïṧlíḑê"/>
            <p:cNvCxnSpPr/>
            <p:nvPr/>
          </p:nvCxnSpPr>
          <p:spPr>
            <a:xfrm>
              <a:off x="6135624" y="4590288"/>
              <a:ext cx="0" cy="548640"/>
            </a:xfrm>
            <a:prstGeom prst="line">
              <a:avLst/>
            </a:prstGeom>
            <a:noFill/>
            <a:ln w="25400" cap="flat">
              <a:solidFill>
                <a:schemeClr val="accent5"/>
              </a:solidFill>
              <a:prstDash val="solid"/>
              <a:bevel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" name="îs1îḓè"/>
            <p:cNvSpPr txBox="1"/>
            <p:nvPr/>
          </p:nvSpPr>
          <p:spPr>
            <a:xfrm>
              <a:off x="6263640" y="459028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范围验收</a:t>
              </a:r>
            </a:p>
          </p:txBody>
        </p:sp>
        <p:sp>
          <p:nvSpPr>
            <p:cNvPr id="13" name="ïś1ïḋè"/>
            <p:cNvSpPr txBox="1"/>
            <p:nvPr/>
          </p:nvSpPr>
          <p:spPr>
            <a:xfrm>
              <a:off x="6263640" y="495604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对照功能清单逐项验收：3 条用户故事 + 1 条主流程</a:t>
              </a:r>
            </a:p>
          </p:txBody>
        </p:sp>
        <p:sp>
          <p:nvSpPr>
            <p:cNvPr id="15" name="ïṧḷïḑê"/>
            <p:cNvSpPr txBox="1"/>
            <p:nvPr/>
          </p:nvSpPr>
          <p:spPr>
            <a:xfrm>
              <a:off x="6263640" y="541324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端到端异常用例</a:t>
              </a:r>
            </a:p>
          </p:txBody>
        </p:sp>
        <p:sp>
          <p:nvSpPr>
            <p:cNvPr id="16" name="ïş1íďè"/>
            <p:cNvSpPr txBox="1"/>
            <p:nvPr/>
          </p:nvSpPr>
          <p:spPr>
            <a:xfrm>
              <a:off x="6263640" y="577900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重复导入、非法金额、缺失列的完整处理</a:t>
              </a:r>
            </a:p>
          </p:txBody>
        </p:sp>
        <p:sp>
          <p:nvSpPr>
            <p:cNvPr id="27" name="íŝ1ïḋe">
              <a:extLst>
                <a:ext uri="{FF2B5EF4-FFF2-40B4-BE49-F238E27FC236}">
                  <a16:creationId xmlns:a16="http://schemas.microsoft.com/office/drawing/2014/main" id="{B25BCCD1-7648-4B51-B56B-B49600986DEA}"/>
                </a:ext>
              </a:extLst>
            </p:cNvPr>
            <p:cNvSpPr txBox="1"/>
            <p:nvPr/>
          </p:nvSpPr>
          <p:spPr>
            <a:xfrm>
              <a:off x="660400" y="1156685"/>
              <a:ext cx="4000501" cy="1733561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2400" b="1" dirty="0">
                  <a:solidFill>
                    <a:schemeClr val="tx1"/>
                  </a:solidFill>
                </a:rPr>
                <a:t>每项缓解措施都配有可度量的验证</a:t>
              </a:r>
            </a:p>
          </p:txBody>
        </p:sp>
        <p:sp>
          <p:nvSpPr>
            <p:cNvPr id="3" name="iṩ1îḋê"/>
            <p:cNvSpPr txBox="1"/>
            <p:nvPr/>
          </p:nvSpPr>
          <p:spPr>
            <a:xfrm>
              <a:off x="6263640" y="2121408"/>
              <a:ext cx="5609773" cy="369332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zh-CN" altLang="en-US" sz="1600" b="1" dirty="0"/>
                <a:t>20 个问题的溯源审查</a:t>
              </a:r>
            </a:p>
          </p:txBody>
        </p:sp>
        <p:sp>
          <p:nvSpPr>
            <p:cNvPr id="4" name="ïṡľïdé"/>
            <p:cNvSpPr txBox="1"/>
            <p:nvPr/>
          </p:nvSpPr>
          <p:spPr>
            <a:xfrm>
              <a:off x="6263640" y="2487168"/>
              <a:ext cx="5609773" cy="294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/>
                <a:t>逐条核对回答是否引用交易 ID、日期与金额</a:t>
              </a:r>
            </a:p>
          </p:txBody>
        </p:sp>
      </p:grpSp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 lvl="0"/>
            <a:r>
              <a:rPr lang="en-US" dirty="0"/>
              <a:t>测试与验证计划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IMAGE" val="New_Batches_1221_Outline/20231221/images_object_7001_8000/8355b745-2dc2-403f-907b-f408b61fc907-4.source.default.zh-Hans.jpg"/>
  <p:tag name="OFFICEPLUS.THEME" val="New_Batches_1221_Outline/20231221/images_object_7001_8000/8355b745-2dc2-403f-907b-f408b61fc907-4.source.default.zh-Hans-9.pptx"/>
  <p:tag name="OFFICEPLUS.OUTLINE" val="600515"/>
  <p:tag name="OFFICEPLUS.OUTLINEEXTERNAL" val="4719a140-5afc-ee21-c499-ec87812e8c5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7bbc12ee-40ec-489f-ab8c-4fa55cf2bf59"/>
  <p:tag name="OFFICEPLUS.TEMPLATE" val="28d67dd3-61fe-4c81-b9af-e895c260dca3.pptx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AG" val="43779941-ebb9-4272-ab0a-451395e9a0c0"/>
  <p:tag name="OFFICEPLUS.OUTLINESECTION" val="560901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282528be-c9d8-41b5-a4ac-689aeb431483.pptx"/>
  <p:tag name="OFFICEPLUS.TAG" val="9e4641ec-8dc6-4050-900b-dadf5fdb9e4c"/>
  <p:tag name="OFFICEPLUS.OUTLINECONTENT" val="1879913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EMPLATE" val="36b2ffea-632e-4918-a2f2-dde3d9a84009.pptx"/>
  <p:tag name="OFFICEPLUS.TAG" val="9e4641ec-8dc6-4050-900b-dadf5fdb9e4c"/>
  <p:tag name="OFFICEPLUS.OUTLINECONTENT" val="18799152"/>
</p:tagLst>
</file>

<file path=ppt/theme/theme1.xml><?xml version="1.0" encoding="utf-8"?>
<a:theme xmlns:a="http://schemas.openxmlformats.org/drawingml/2006/main" name="Designed by OfficePLUS">
  <a:themeElements>
    <a:clrScheme name="OfficePLUS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4AA6"/>
      </a:accent1>
      <a:accent2>
        <a:srgbClr val="4BA7FF"/>
      </a:accent2>
      <a:accent3>
        <a:srgbClr val="1487FF"/>
      </a:accent3>
      <a:accent4>
        <a:srgbClr val="75C9FF"/>
      </a:accent4>
      <a:accent5>
        <a:srgbClr val="0266DE"/>
      </a:accent5>
      <a:accent6>
        <a:srgbClr val="003071"/>
      </a:accent6>
      <a:hlink>
        <a:srgbClr val="4472C4"/>
      </a:hlink>
      <a:folHlink>
        <a:srgbClr val="BFBFBF"/>
      </a:folHlink>
    </a:clrScheme>
    <a:fontScheme name="OfficePLU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1223</Words>
  <Application>Microsoft Office PowerPoint</Application>
  <PresentationFormat>Widescreen</PresentationFormat>
  <Paragraphs>227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等线</vt:lpstr>
      <vt:lpstr>Arial</vt:lpstr>
      <vt:lpstr>Wingdings</vt:lpstr>
      <vt:lpstr>Designed by OfficePLUS</vt:lpstr>
      <vt:lpstr>AI驱动： 智能助手新纪元</vt:lpstr>
      <vt:lpstr>PowerPoint Presentation</vt:lpstr>
      <vt:lpstr>01.人工智能基本知识</vt:lpstr>
      <vt:lpstr>什么是人工智能</vt:lpstr>
      <vt:lpstr>AI的主要分支</vt:lpstr>
      <vt:lpstr>自然语言处理概述</vt:lpstr>
      <vt:lpstr>语音识别技术现状</vt:lpstr>
      <vt:lpstr>深度学习的运用</vt:lpstr>
      <vt:lpstr>02.智能助手市场展望</vt:lpstr>
      <vt:lpstr>市场上的智能助手</vt:lpstr>
      <vt:lpstr>产品特性分析</vt:lpstr>
      <vt:lpstr>市场发展趋势</vt:lpstr>
      <vt:lpstr>未来市场预测</vt:lpstr>
      <vt:lpstr>03.智能助手产品介绍</vt:lpstr>
      <vt:lpstr>产品功能展示</vt:lpstr>
      <vt:lpstr>独步业界的秘密</vt:lpstr>
      <vt:lpstr>用户体验优化</vt:lpstr>
      <vt:lpstr>我们的商业模式</vt:lpstr>
      <vt:lpstr>04.产品盈利与市场潜力</vt:lpstr>
      <vt:lpstr>盈利预期分析</vt:lpstr>
      <vt:lpstr>市场增长潜力</vt:lpstr>
      <vt:lpstr>AI技术的发展趋势</vt:lpstr>
      <vt:lpstr>市场空间探索</vt:lpstr>
      <vt:lpstr>05.智能助手产品投资价值</vt:lpstr>
      <vt:lpstr>产品竞争优势</vt:lpstr>
      <vt:lpstr>引领市场潮流</vt:lpstr>
      <vt:lpstr>欢迎深度了解</vt:lpstr>
      <vt:lpstr>期待您的投资</vt:lpstr>
      <vt:lpstr>Thank You</vt:lpstr>
    </vt:vector>
  </TitlesOfParts>
  <Company>OfficePLUS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风险、测试与团队计划 - AI 个人理财助手</dc:title>
  <dc:creator>Project Team</dc:creator>
  <cp:lastModifiedBy>admini</cp:lastModifiedBy>
  <cp:revision>2</cp:revision>
  <dcterms:created xsi:type="dcterms:W3CDTF">2023-07-20T03:04:31Z</dcterms:created>
  <dcterms:modified xsi:type="dcterms:W3CDTF">2024-01-24T14:41:22Z</dcterms:modified>
</cp:coreProperties>
</file>